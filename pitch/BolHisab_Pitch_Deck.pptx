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Title: BolHisab — voice-first khata for small manufacturers. One line: bolo, confirm, bill. Replace the team line with your full team name and members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Problem: khata lives in notebooks + WhatsApp; owner forgets who owes what; payments get delayed; GST filing is painful. Stats: ~6.3 crore MSMEs (MSME ministry); delayed payments lock up thousands of crores (est. — say "estimate" aloud). The quote is a composite of shopkeeper interviews.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Solution: the voice-confirm loop is the demo centerpiece — the app READS the entry back and only saves on "haan". Tap/typing always works as fallback. The pay link shows every item so the CUSTOMER can verify the total himself.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it works: 1) speak any Hinglish/Hindi/English command 2) app speaks the review; "kaunse Singh?" style disambiguation by voice ("pehla"/"doosra") 3) numbered GST bill created, chase ladder runs (WhatsApp 7d, call 15d, letter 30d), payments recorded with 10-second 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Architecture: client (Next.js web + same app in Capacitor Android shell) -&gt; /api/voice (server) -&gt; Gemini extracts ONLY what was said (structured JSON); totals/GST/aging/forecast all computed by our deterministic engine in whole paise integers; Supabase Postgres + Realtime (phone entry appears on dashboard live) + Auth. Honest limits card: demo data seeded, RLS open in demo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Impact: 6.3 crore MSMEs; everyday credit sellers. Roadmap is real product steps: per-shop accounts with RLS, more languages + WhatsApp bot, e-invoice IRP + bank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Close: live at bolhisab.netlify.app — log in with the judges account and speak one entry. Add your teammates before submitting. APK downloads from the landing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nitinraina-cachedinfo/a7d1d877-a336-4565-adcb-7cbe51d8340f/scratchpad/deck/brand/lockup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2450277" cy="347472"/>
          </a:xfrm>
          <a:prstGeom prst="rect">
            <a:avLst/>
          </a:prstGeom>
        </p:spPr>
      </p:pic>
      <p:pic>
        <p:nvPicPr>
          <p:cNvPr id="3" name="Image 1" descr="/private/tmp/claude-501/-Users-nitinraina-cachedinfo/a7d1d877-a336-4565-adcb-7cbe51d8340f/scratchpad/deck/brand/wordmark-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237" y="466344"/>
            <a:ext cx="2178220" cy="1828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987552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1D2D52"/>
          </a:solidFill>
          <a:ln w="12700">
            <a:solidFill>
              <a:srgbClr val="F0A43A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548640" y="987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4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4173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BolHisab</a:t>
            </a:r>
            <a:endParaRPr lang="en-US" sz="7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560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B9C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हिसाब अब बोलकर — just speak.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2461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in Hinglish, Hindi or English — BolHisab hears the sale, confirms aloud, makes the GST bill, chases payment.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251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BolHisab  ·  Gurvinder Singh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63640" y="502920"/>
            <a:ext cx="2103120" cy="4160520"/>
          </a:xfrm>
          <a:prstGeom prst="roundRect">
            <a:avLst>
              <a:gd name="adj" fmla="val 14000"/>
            </a:avLst>
          </a:prstGeom>
          <a:solidFill>
            <a:srgbClr val="0B1224"/>
          </a:solidFill>
          <a:ln w="12700">
            <a:solidFill>
              <a:srgbClr val="3B4B7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89827" y="629107"/>
            <a:ext cx="1850746" cy="390814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37887" y="776326"/>
            <a:ext cx="1554626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5" b="1" dirty="0">
                <a:solidFill>
                  <a:srgbClr val="2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BolHisab</a:t>
            </a:r>
            <a:endParaRPr lang="en-US" sz="1265" dirty="0"/>
          </a:p>
        </p:txBody>
      </p:sp>
      <p:sp>
        <p:nvSpPr>
          <p:cNvPr id="13" name="Text 9"/>
          <p:cNvSpPr txBox="1"/>
          <p:nvPr/>
        </p:nvSpPr>
        <p:spPr>
          <a:xfrm>
            <a:off x="6537887" y="1112825"/>
            <a:ext cx="1554626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93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entry</a:t>
            </a:r>
            <a:endParaRPr lang="en-US" sz="1093" dirty="0"/>
          </a:p>
        </p:txBody>
      </p:sp>
      <p:sp>
        <p:nvSpPr>
          <p:cNvPr id="14" name="Text 10"/>
          <p:cNvSpPr txBox="1"/>
          <p:nvPr/>
        </p:nvSpPr>
        <p:spPr>
          <a:xfrm>
            <a:off x="6537887" y="1386230"/>
            <a:ext cx="15546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3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“Gupta ji ₹400 samaan”</a:t>
            </a:r>
            <a:endParaRPr lang="en-US" sz="863" dirty="0"/>
          </a:p>
        </p:txBody>
      </p:sp>
      <p:sp>
        <p:nvSpPr>
          <p:cNvPr id="15" name="Shape 11"/>
          <p:cNvSpPr/>
          <p:nvPr/>
        </p:nvSpPr>
        <p:spPr>
          <a:xfrm>
            <a:off x="6537887" y="1764792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409" y="1820314"/>
            <a:ext cx="120298" cy="12029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74386" y="1743761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 sunta hai</a:t>
            </a:r>
            <a:endParaRPr lang="en-US" sz="920" dirty="0"/>
          </a:p>
        </p:txBody>
      </p:sp>
      <p:sp>
        <p:nvSpPr>
          <p:cNvPr id="18" name="Shape 13"/>
          <p:cNvSpPr/>
          <p:nvPr/>
        </p:nvSpPr>
        <p:spPr>
          <a:xfrm>
            <a:off x="6537887" y="2185416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409" y="2240938"/>
            <a:ext cx="120298" cy="12029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74386" y="2164385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 kar dohraata hai</a:t>
            </a:r>
            <a:endParaRPr lang="en-US" sz="920" dirty="0"/>
          </a:p>
        </p:txBody>
      </p:sp>
      <p:sp>
        <p:nvSpPr>
          <p:cNvPr id="21" name="Shape 15"/>
          <p:cNvSpPr/>
          <p:nvPr/>
        </p:nvSpPr>
        <p:spPr>
          <a:xfrm>
            <a:off x="6537887" y="2606040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409" y="2661562"/>
            <a:ext cx="120298" cy="12029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74386" y="2585009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“Haan” boliye</a:t>
            </a:r>
            <a:endParaRPr lang="en-US" sz="920" dirty="0"/>
          </a:p>
        </p:txBody>
      </p:sp>
      <p:sp>
        <p:nvSpPr>
          <p:cNvPr id="24" name="Shape 17"/>
          <p:cNvSpPr/>
          <p:nvPr/>
        </p:nvSpPr>
        <p:spPr>
          <a:xfrm>
            <a:off x="6537887" y="3026664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3409" y="3082186"/>
            <a:ext cx="120298" cy="12029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874386" y="3005633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 bill ban jaata</a:t>
            </a:r>
            <a:endParaRPr lang="en-US" sz="920" dirty="0"/>
          </a:p>
        </p:txBody>
      </p:sp>
      <p:sp>
        <p:nvSpPr>
          <p:cNvPr id="27" name="Shape 19"/>
          <p:cNvSpPr/>
          <p:nvPr/>
        </p:nvSpPr>
        <p:spPr>
          <a:xfrm>
            <a:off x="6537887" y="3447288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3409" y="3502810"/>
            <a:ext cx="120298" cy="12029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874386" y="3426257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se payment</a:t>
            </a:r>
            <a:endParaRPr lang="en-US" sz="920" dirty="0"/>
          </a:p>
        </p:txBody>
      </p:sp>
      <p:sp>
        <p:nvSpPr>
          <p:cNvPr id="30" name="Shape 21"/>
          <p:cNvSpPr/>
          <p:nvPr/>
        </p:nvSpPr>
        <p:spPr>
          <a:xfrm>
            <a:off x="6537887" y="3885286"/>
            <a:ext cx="1554626" cy="378562"/>
          </a:xfrm>
          <a:prstGeom prst="roundRect">
            <a:avLst>
              <a:gd name="adj" fmla="val 50000"/>
            </a:avLst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6537887" y="3885286"/>
            <a:ext cx="155462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confirm loop</a:t>
            </a:r>
            <a:endParaRPr lang="en-US" sz="977" dirty="0"/>
          </a:p>
        </p:txBody>
      </p:sp>
      <p:sp>
        <p:nvSpPr>
          <p:cNvPr id="32" name="Text 23"/>
          <p:cNvSpPr txBox="1"/>
          <p:nvPr/>
        </p:nvSpPr>
        <p:spPr>
          <a:xfrm>
            <a:off x="6537887" y="4295394"/>
            <a:ext cx="1554626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6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Hisaab in a notebook. Dues in the dark.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480560" cy="3246120"/>
          </a:xfrm>
          <a:prstGeom prst="roundRect">
            <a:avLst>
              <a:gd name="adj" fmla="val 4225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228600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“Poore din 20 bills likhta hoon. Phone aata hai to dhundhna padta hai — kisko kitna baaki hai, bhool jaata hoon.”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3931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Rakesh, 45, packaging unit owner, Pune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40680" y="1481328"/>
            <a:ext cx="502920" cy="50292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439" y="1612087"/>
            <a:ext cx="241402" cy="2414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12648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 crore</a:t>
            </a:r>
            <a:endParaRPr lang="en-US" sz="440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212140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MSMEs in India. Most still track udhaar on paper or WhatsApp, not software.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40680" y="3127248"/>
            <a:ext cx="502920" cy="50292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439" y="3258007"/>
            <a:ext cx="241402" cy="2414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26480" y="3017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₹8,600 cr</a:t>
            </a:r>
            <a:endParaRPr lang="en-US" sz="4400" dirty="0"/>
          </a:p>
        </p:txBody>
      </p:sp>
      <p:sp>
        <p:nvSpPr>
          <p:cNvPr id="14" name="Text 9"/>
          <p:cNvSpPr txBox="1"/>
          <p:nvPr/>
        </p:nvSpPr>
        <p:spPr>
          <a:xfrm>
            <a:off x="6126480" y="37673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delayed MSME payments — earned but stuck (est.)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Bolo. Confirm karo. Bill ban gaya.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BolHisab hears the sale, speaks the review back, saves only on your “haan”. Tap or type always works.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365760" cy="36576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80360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2788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Voice-first in Hinglish, Hindi and English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355848"/>
            <a:ext cx="365760" cy="36576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47288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3355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 bills, chase ladder and forecast built in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922776"/>
            <a:ext cx="365760" cy="36576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1421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39227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pay link: every item, self-verified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63640" y="411480"/>
            <a:ext cx="2103120" cy="4297680"/>
          </a:xfrm>
          <a:prstGeom prst="roundRect">
            <a:avLst>
              <a:gd name="adj" fmla="val 14000"/>
            </a:avLst>
          </a:prstGeom>
          <a:solidFill>
            <a:srgbClr val="0B1224"/>
          </a:solidFill>
          <a:ln w="12700">
            <a:solidFill>
              <a:srgbClr val="3B4B7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389827" y="537667"/>
            <a:ext cx="1850746" cy="404530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537887" y="684886"/>
            <a:ext cx="1554626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5" b="1" dirty="0">
                <a:solidFill>
                  <a:srgbClr val="2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BolHisab</a:t>
            </a:r>
            <a:endParaRPr lang="en-US" sz="1265" dirty="0"/>
          </a:p>
        </p:txBody>
      </p:sp>
      <p:sp>
        <p:nvSpPr>
          <p:cNvPr id="16" name="Text 11"/>
          <p:cNvSpPr txBox="1"/>
          <p:nvPr/>
        </p:nvSpPr>
        <p:spPr>
          <a:xfrm>
            <a:off x="6537887" y="1021385"/>
            <a:ext cx="1554626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93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Aaj ka hisaab</a:t>
            </a:r>
            <a:endParaRPr lang="en-US" sz="1093" dirty="0"/>
          </a:p>
        </p:txBody>
      </p:sp>
      <p:sp>
        <p:nvSpPr>
          <p:cNvPr id="17" name="Text 12"/>
          <p:cNvSpPr txBox="1"/>
          <p:nvPr/>
        </p:nvSpPr>
        <p:spPr>
          <a:xfrm>
            <a:off x="6537887" y="1294790"/>
            <a:ext cx="15546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3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“110 ki sabji, 90 ka tel”</a:t>
            </a:r>
            <a:endParaRPr lang="en-US" sz="863" dirty="0"/>
          </a:p>
        </p:txBody>
      </p:sp>
      <p:sp>
        <p:nvSpPr>
          <p:cNvPr id="18" name="Shape 13"/>
          <p:cNvSpPr/>
          <p:nvPr/>
        </p:nvSpPr>
        <p:spPr>
          <a:xfrm>
            <a:off x="6537887" y="1673352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409" y="1728874"/>
            <a:ext cx="120298" cy="12029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74386" y="1652321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Sabji ₹110 · Tel ₹90</a:t>
            </a:r>
            <a:endParaRPr lang="en-US" sz="920" dirty="0"/>
          </a:p>
        </p:txBody>
      </p:sp>
      <p:sp>
        <p:nvSpPr>
          <p:cNvPr id="21" name="Shape 15"/>
          <p:cNvSpPr/>
          <p:nvPr/>
        </p:nvSpPr>
        <p:spPr>
          <a:xfrm>
            <a:off x="6537887" y="2093976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409" y="2149498"/>
            <a:ext cx="120298" cy="12029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74386" y="2072945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 ₹350 baaki</a:t>
            </a:r>
            <a:endParaRPr lang="en-US" sz="920" dirty="0"/>
          </a:p>
        </p:txBody>
      </p:sp>
      <p:sp>
        <p:nvSpPr>
          <p:cNvPr id="24" name="Shape 17"/>
          <p:cNvSpPr/>
          <p:nvPr/>
        </p:nvSpPr>
        <p:spPr>
          <a:xfrm>
            <a:off x="6537887" y="2514600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3409" y="2570122"/>
            <a:ext cx="120298" cy="12029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874386" y="2493569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INV/26-27/0077</a:t>
            </a:r>
            <a:endParaRPr lang="en-US" sz="920" dirty="0"/>
          </a:p>
        </p:txBody>
      </p:sp>
      <p:sp>
        <p:nvSpPr>
          <p:cNvPr id="27" name="Shape 19"/>
          <p:cNvSpPr/>
          <p:nvPr/>
        </p:nvSpPr>
        <p:spPr>
          <a:xfrm>
            <a:off x="6537887" y="2935224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3409" y="2990746"/>
            <a:ext cx="120298" cy="12029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874386" y="2914193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Follow-up: WhatsApp</a:t>
            </a:r>
            <a:endParaRPr lang="en-US" sz="920" dirty="0"/>
          </a:p>
        </p:txBody>
      </p:sp>
      <p:sp>
        <p:nvSpPr>
          <p:cNvPr id="30" name="Shape 21"/>
          <p:cNvSpPr/>
          <p:nvPr/>
        </p:nvSpPr>
        <p:spPr>
          <a:xfrm>
            <a:off x="6537887" y="3355848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3409" y="3411370"/>
            <a:ext cx="120298" cy="120298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874386" y="3334817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pay link ready</a:t>
            </a:r>
            <a:endParaRPr lang="en-US" sz="920" dirty="0"/>
          </a:p>
        </p:txBody>
      </p:sp>
      <p:sp>
        <p:nvSpPr>
          <p:cNvPr id="33" name="Shape 23"/>
          <p:cNvSpPr/>
          <p:nvPr/>
        </p:nvSpPr>
        <p:spPr>
          <a:xfrm>
            <a:off x="6537887" y="3931006"/>
            <a:ext cx="1554626" cy="378562"/>
          </a:xfrm>
          <a:prstGeom prst="roundRect">
            <a:avLst>
              <a:gd name="adj" fmla="val 50000"/>
            </a:avLst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6537887" y="3931006"/>
            <a:ext cx="155462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reminder</a:t>
            </a:r>
            <a:endParaRPr lang="en-US" sz="977" dirty="0"/>
          </a:p>
        </p:txBody>
      </p:sp>
      <p:sp>
        <p:nvSpPr>
          <p:cNvPr id="35" name="Text 25"/>
          <p:cNvSpPr txBox="1"/>
          <p:nvPr/>
        </p:nvSpPr>
        <p:spPr>
          <a:xfrm>
            <a:off x="6537887" y="4341114"/>
            <a:ext cx="1554626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data</a:t>
            </a:r>
            <a:endParaRPr lang="en-US" sz="6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spoken sale to bill in three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347472" cy="347472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78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Bolo — apni bhasha mein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1600200"/>
            <a:ext cx="1600200" cy="3246120"/>
          </a:xfrm>
          <a:prstGeom prst="roundRect">
            <a:avLst>
              <a:gd name="adj" fmla="val 14000"/>
            </a:avLst>
          </a:prstGeom>
          <a:solidFill>
            <a:srgbClr val="0B1224"/>
          </a:solidFill>
          <a:ln w="12700">
            <a:solidFill>
              <a:srgbClr val="3B4B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" y="1696212"/>
            <a:ext cx="1408176" cy="3054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68786" y="1808226"/>
            <a:ext cx="1182868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3" b="1" dirty="0">
                <a:solidFill>
                  <a:srgbClr val="2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BolHisab</a:t>
            </a:r>
            <a:endParaRPr lang="en-US" sz="963" dirty="0"/>
          </a:p>
        </p:txBody>
      </p:sp>
      <p:sp>
        <p:nvSpPr>
          <p:cNvPr id="9" name="Shape 7"/>
          <p:cNvSpPr/>
          <p:nvPr/>
        </p:nvSpPr>
        <p:spPr>
          <a:xfrm>
            <a:off x="1168786" y="2064258"/>
            <a:ext cx="1182868" cy="24003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 w="12700">
            <a:solidFill>
              <a:srgbClr val="D7DEE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796" y="2128266"/>
            <a:ext cx="112014" cy="11201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08816" y="2064258"/>
            <a:ext cx="94283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 dabaiye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1168786" y="2416302"/>
            <a:ext cx="1182868" cy="288036"/>
          </a:xfrm>
          <a:prstGeom prst="roundRect">
            <a:avLst>
              <a:gd name="adj" fmla="val 22222"/>
            </a:avLst>
          </a:prstGeom>
          <a:solidFill>
            <a:srgbClr val="E3EAFB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64798" y="2416302"/>
            <a:ext cx="10228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4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“Gupta ji ₹400”</a:t>
            </a:r>
            <a:endParaRPr lang="en-US" sz="744" dirty="0"/>
          </a:p>
        </p:txBody>
      </p:sp>
      <p:sp>
        <p:nvSpPr>
          <p:cNvPr id="14" name="Shape 11"/>
          <p:cNvSpPr/>
          <p:nvPr/>
        </p:nvSpPr>
        <p:spPr>
          <a:xfrm>
            <a:off x="1168786" y="2768346"/>
            <a:ext cx="1182868" cy="28803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64798" y="2768346"/>
            <a:ext cx="10228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4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“Patil 5,000 bheje”</a:t>
            </a:r>
            <a:endParaRPr lang="en-US" sz="744" dirty="0"/>
          </a:p>
        </p:txBody>
      </p:sp>
      <p:sp>
        <p:nvSpPr>
          <p:cNvPr id="16" name="Shape 13"/>
          <p:cNvSpPr/>
          <p:nvPr/>
        </p:nvSpPr>
        <p:spPr>
          <a:xfrm>
            <a:off x="1168786" y="3120390"/>
            <a:ext cx="1182868" cy="28803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64798" y="3120390"/>
            <a:ext cx="10228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4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“Kitna baaki hai?”</a:t>
            </a:r>
            <a:endParaRPr lang="en-US" sz="744" dirty="0"/>
          </a:p>
        </p:txBody>
      </p:sp>
      <p:sp>
        <p:nvSpPr>
          <p:cNvPr id="18" name="Shape 15"/>
          <p:cNvSpPr/>
          <p:nvPr/>
        </p:nvSpPr>
        <p:spPr>
          <a:xfrm>
            <a:off x="1168786" y="3472434"/>
            <a:ext cx="1182868" cy="28803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64798" y="3472434"/>
            <a:ext cx="10228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4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“Naya khaata”</a:t>
            </a:r>
            <a:endParaRPr lang="en-US" sz="744" dirty="0"/>
          </a:p>
        </p:txBody>
      </p:sp>
      <p:sp>
        <p:nvSpPr>
          <p:cNvPr id="20" name="Shape 17"/>
          <p:cNvSpPr/>
          <p:nvPr/>
        </p:nvSpPr>
        <p:spPr>
          <a:xfrm>
            <a:off x="1168786" y="3824478"/>
            <a:ext cx="1182868" cy="28803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64798" y="3824478"/>
            <a:ext cx="10228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4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“Haan” se save</a:t>
            </a:r>
            <a:endParaRPr lang="en-US" sz="744" dirty="0"/>
          </a:p>
        </p:txBody>
      </p:sp>
      <p:sp>
        <p:nvSpPr>
          <p:cNvPr id="22" name="Shape 19"/>
          <p:cNvSpPr/>
          <p:nvPr/>
        </p:nvSpPr>
        <p:spPr>
          <a:xfrm>
            <a:off x="3291840" y="1078992"/>
            <a:ext cx="347472" cy="347472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2918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749040" y="1078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— “haan” ya “nahi”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703320" y="1600200"/>
            <a:ext cx="1600200" cy="3246120"/>
          </a:xfrm>
          <a:prstGeom prst="roundRect">
            <a:avLst>
              <a:gd name="adj" fmla="val 14000"/>
            </a:avLst>
          </a:prstGeom>
          <a:solidFill>
            <a:srgbClr val="0B1224"/>
          </a:solidFill>
          <a:ln w="12700">
            <a:solidFill>
              <a:srgbClr val="3B4B7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799332" y="1696212"/>
            <a:ext cx="1408176" cy="3054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911986" y="1808226"/>
            <a:ext cx="1182868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3" b="1" dirty="0">
                <a:solidFill>
                  <a:srgbClr val="2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BolHisab</a:t>
            </a:r>
            <a:endParaRPr lang="en-US" sz="963" dirty="0"/>
          </a:p>
        </p:txBody>
      </p:sp>
      <p:sp>
        <p:nvSpPr>
          <p:cNvPr id="28" name="Text 25"/>
          <p:cNvSpPr txBox="1"/>
          <p:nvPr/>
        </p:nvSpPr>
        <p:spPr>
          <a:xfrm>
            <a:off x="3911986" y="2064258"/>
            <a:ext cx="1182868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875" dirty="0"/>
          </a:p>
        </p:txBody>
      </p:sp>
      <p:sp>
        <p:nvSpPr>
          <p:cNvPr id="29" name="Text 26"/>
          <p:cNvSpPr txBox="1"/>
          <p:nvPr/>
        </p:nvSpPr>
        <p:spPr>
          <a:xfrm>
            <a:off x="3911986" y="2336292"/>
            <a:ext cx="11828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Khaate mein add karun? ₹400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3911986" y="2592324"/>
            <a:ext cx="559430" cy="240030"/>
          </a:xfrm>
          <a:prstGeom prst="roundRect">
            <a:avLst>
              <a:gd name="adj" fmla="val 50000"/>
            </a:avLst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911986" y="2592324"/>
            <a:ext cx="5594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Haan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4535424" y="2592324"/>
            <a:ext cx="55943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35424" y="2592324"/>
            <a:ext cx="5594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Nahi</a:t>
            </a:r>
            <a:endParaRPr lang="en-US" sz="700" dirty="0"/>
          </a:p>
        </p:txBody>
      </p:sp>
      <p:sp>
        <p:nvSpPr>
          <p:cNvPr id="34" name="Text 31"/>
          <p:cNvSpPr txBox="1"/>
          <p:nvPr/>
        </p:nvSpPr>
        <p:spPr>
          <a:xfrm>
            <a:off x="3911986" y="2960370"/>
            <a:ext cx="11828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Kaunse Singh? (2)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3911986" y="3216402"/>
            <a:ext cx="55943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911986" y="3216402"/>
            <a:ext cx="5594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Pehla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4535424" y="3216402"/>
            <a:ext cx="559430" cy="240030"/>
          </a:xfrm>
          <a:prstGeom prst="roundRect">
            <a:avLst>
              <a:gd name="adj" fmla="val 50000"/>
            </a:avLst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535424" y="3216402"/>
            <a:ext cx="5594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Doosra</a:t>
            </a:r>
            <a:endParaRPr lang="en-US" sz="700" dirty="0"/>
          </a:p>
        </p:txBody>
      </p:sp>
      <p:sp>
        <p:nvSpPr>
          <p:cNvPr id="39" name="Text 36"/>
          <p:cNvSpPr txBox="1"/>
          <p:nvPr/>
        </p:nvSpPr>
        <p:spPr>
          <a:xfrm>
            <a:off x="3911986" y="3584448"/>
            <a:ext cx="11828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 khaata?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3911986" y="3840480"/>
            <a:ext cx="55943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911986" y="3840480"/>
            <a:ext cx="5594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Haan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4535424" y="3840480"/>
            <a:ext cx="559430" cy="240030"/>
          </a:xfrm>
          <a:prstGeom prst="roundRect">
            <a:avLst>
              <a:gd name="adj" fmla="val 50000"/>
            </a:avLst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535424" y="3840480"/>
            <a:ext cx="5594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Nahi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3911986" y="4254246"/>
            <a:ext cx="1182868" cy="288036"/>
          </a:xfrm>
          <a:prstGeom prst="roundRect">
            <a:avLst>
              <a:gd name="adj" fmla="val 50000"/>
            </a:avLst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911986" y="4254246"/>
            <a:ext cx="11828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ho gaya ✓</a:t>
            </a:r>
            <a:endParaRPr lang="en-US" sz="744" dirty="0"/>
          </a:p>
        </p:txBody>
      </p:sp>
      <p:sp>
        <p:nvSpPr>
          <p:cNvPr id="46" name="Shape 43"/>
          <p:cNvSpPr/>
          <p:nvPr/>
        </p:nvSpPr>
        <p:spPr>
          <a:xfrm>
            <a:off x="6035040" y="1078992"/>
            <a:ext cx="347472" cy="347472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0350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1078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bana — share, chase, vasooli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6446520" y="1600200"/>
            <a:ext cx="1600200" cy="3246120"/>
          </a:xfrm>
          <a:prstGeom prst="roundRect">
            <a:avLst>
              <a:gd name="adj" fmla="val 14000"/>
            </a:avLst>
          </a:prstGeom>
          <a:solidFill>
            <a:srgbClr val="0B1224"/>
          </a:solidFill>
          <a:ln w="12700">
            <a:solidFill>
              <a:srgbClr val="3B4B7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542532" y="1696212"/>
            <a:ext cx="1408176" cy="3054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55186" y="1808226"/>
            <a:ext cx="1182868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3" b="1" dirty="0">
                <a:solidFill>
                  <a:srgbClr val="2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BolHisab</a:t>
            </a:r>
            <a:endParaRPr lang="en-US" sz="963" dirty="0"/>
          </a:p>
        </p:txBody>
      </p:sp>
      <p:sp>
        <p:nvSpPr>
          <p:cNvPr id="52" name="Text 49"/>
          <p:cNvSpPr txBox="1"/>
          <p:nvPr/>
        </p:nvSpPr>
        <p:spPr>
          <a:xfrm>
            <a:off x="6655186" y="2064258"/>
            <a:ext cx="1182868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1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INV/26-27/0077</a:t>
            </a:r>
            <a:endParaRPr lang="en-US" sz="831" dirty="0"/>
          </a:p>
        </p:txBody>
      </p:sp>
      <p:sp>
        <p:nvSpPr>
          <p:cNvPr id="53" name="Text 50"/>
          <p:cNvSpPr txBox="1"/>
          <p:nvPr/>
        </p:nvSpPr>
        <p:spPr>
          <a:xfrm>
            <a:off x="6655186" y="2272284"/>
            <a:ext cx="118286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6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Sabji ₹110 · Tel ₹90</a:t>
            </a:r>
            <a:endParaRPr lang="en-US" sz="656" dirty="0"/>
          </a:p>
        </p:txBody>
      </p:sp>
      <p:sp>
        <p:nvSpPr>
          <p:cNvPr id="54" name="Shape 51"/>
          <p:cNvSpPr/>
          <p:nvPr/>
        </p:nvSpPr>
        <p:spPr>
          <a:xfrm>
            <a:off x="6655186" y="2560320"/>
            <a:ext cx="176022" cy="176022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5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431" y="2602565"/>
            <a:ext cx="91531" cy="91531"/>
          </a:xfrm>
          <a:prstGeom prst="rect">
            <a:avLst/>
          </a:prstGeom>
        </p:spPr>
      </p:pic>
      <p:sp>
        <p:nvSpPr>
          <p:cNvPr id="56" name="Text 52"/>
          <p:cNvSpPr txBox="1"/>
          <p:nvPr/>
        </p:nvSpPr>
        <p:spPr>
          <a:xfrm>
            <a:off x="6911218" y="2544318"/>
            <a:ext cx="92683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bheja ✓</a:t>
            </a:r>
            <a:endParaRPr lang="en-US" sz="700" dirty="0"/>
          </a:p>
        </p:txBody>
      </p:sp>
      <p:sp>
        <p:nvSpPr>
          <p:cNvPr id="57" name="Shape 53"/>
          <p:cNvSpPr/>
          <p:nvPr/>
        </p:nvSpPr>
        <p:spPr>
          <a:xfrm>
            <a:off x="6655186" y="2880360"/>
            <a:ext cx="176022" cy="176022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5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431" y="2922605"/>
            <a:ext cx="91531" cy="91531"/>
          </a:xfrm>
          <a:prstGeom prst="rect">
            <a:avLst/>
          </a:prstGeom>
        </p:spPr>
      </p:pic>
      <p:sp>
        <p:nvSpPr>
          <p:cNvPr id="59" name="Text 54"/>
          <p:cNvSpPr txBox="1"/>
          <p:nvPr/>
        </p:nvSpPr>
        <p:spPr>
          <a:xfrm>
            <a:off x="6911218" y="2864358"/>
            <a:ext cx="92683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Call, 15 din baad</a:t>
            </a:r>
            <a:endParaRPr lang="en-US" sz="700" dirty="0"/>
          </a:p>
        </p:txBody>
      </p:sp>
      <p:sp>
        <p:nvSpPr>
          <p:cNvPr id="60" name="Shape 55"/>
          <p:cNvSpPr/>
          <p:nvPr/>
        </p:nvSpPr>
        <p:spPr>
          <a:xfrm>
            <a:off x="6655186" y="3200400"/>
            <a:ext cx="176022" cy="176022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6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431" y="3242645"/>
            <a:ext cx="91531" cy="91531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6911218" y="3184398"/>
            <a:ext cx="92683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Letter, 30 din</a:t>
            </a:r>
            <a:endParaRPr lang="en-US" sz="700" dirty="0"/>
          </a:p>
        </p:txBody>
      </p:sp>
      <p:sp>
        <p:nvSpPr>
          <p:cNvPr id="63" name="Shape 57"/>
          <p:cNvSpPr/>
          <p:nvPr/>
        </p:nvSpPr>
        <p:spPr>
          <a:xfrm>
            <a:off x="6655186" y="3520440"/>
            <a:ext cx="176022" cy="176022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6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431" y="3562685"/>
            <a:ext cx="91531" cy="91531"/>
          </a:xfrm>
          <a:prstGeom prst="rect">
            <a:avLst/>
          </a:prstGeom>
        </p:spPr>
      </p:pic>
      <p:sp>
        <p:nvSpPr>
          <p:cNvPr id="65" name="Text 58"/>
          <p:cNvSpPr txBox="1"/>
          <p:nvPr/>
        </p:nvSpPr>
        <p:spPr>
          <a:xfrm>
            <a:off x="6911218" y="3504438"/>
            <a:ext cx="92683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payment aaya</a:t>
            </a:r>
            <a:endParaRPr lang="en-US" sz="700" dirty="0"/>
          </a:p>
        </p:txBody>
      </p:sp>
      <p:sp>
        <p:nvSpPr>
          <p:cNvPr id="66" name="Shape 59"/>
          <p:cNvSpPr/>
          <p:nvPr/>
        </p:nvSpPr>
        <p:spPr>
          <a:xfrm>
            <a:off x="6655186" y="3840480"/>
            <a:ext cx="176022" cy="176022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431" y="3882725"/>
            <a:ext cx="91531" cy="91531"/>
          </a:xfrm>
          <a:prstGeom prst="rect">
            <a:avLst/>
          </a:prstGeom>
        </p:spPr>
      </p:pic>
      <p:sp>
        <p:nvSpPr>
          <p:cNvPr id="68" name="Text 60"/>
          <p:cNvSpPr txBox="1"/>
          <p:nvPr/>
        </p:nvSpPr>
        <p:spPr>
          <a:xfrm>
            <a:off x="6911218" y="3824478"/>
            <a:ext cx="92683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₹350 jama ✓</a:t>
            </a:r>
            <a:endParaRPr lang="en-US" sz="700" dirty="0"/>
          </a:p>
        </p:txBody>
      </p:sp>
      <p:sp>
        <p:nvSpPr>
          <p:cNvPr id="69" name="Shape 61"/>
          <p:cNvSpPr/>
          <p:nvPr/>
        </p:nvSpPr>
        <p:spPr>
          <a:xfrm>
            <a:off x="6655186" y="4254246"/>
            <a:ext cx="1182868" cy="288036"/>
          </a:xfrm>
          <a:prstGeom prst="roundRect">
            <a:avLst>
              <a:gd name="adj" fmla="val 50000"/>
            </a:avLst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sp>
        <p:nvSpPr>
          <p:cNvPr id="70" name="Text 62"/>
          <p:cNvSpPr txBox="1"/>
          <p:nvPr/>
        </p:nvSpPr>
        <p:spPr>
          <a:xfrm>
            <a:off x="6655186" y="4254246"/>
            <a:ext cx="11828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link + QR</a:t>
            </a:r>
            <a:endParaRPr lang="en-US" sz="744" dirty="0"/>
          </a:p>
        </p:txBody>
      </p:sp>
      <p:sp>
        <p:nvSpPr>
          <p:cNvPr id="71" name="Text 63"/>
          <p:cNvSpPr txBox="1"/>
          <p:nvPr/>
        </p:nvSpPr>
        <p:spPr>
          <a:xfrm>
            <a:off x="6655186" y="4566285"/>
            <a:ext cx="11828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5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</a:t>
            </a:r>
            <a:endParaRPr lang="en-US" sz="5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LLM extracts, engine computes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860804"/>
            <a:ext cx="210312" cy="210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719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web app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9933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codebase for web + Android (Capacitor shell).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77520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633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9077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book + Realtime sync + Auth login.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689604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547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(server-side)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8221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to intent only. Key never leaves the server.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617720" y="1234440"/>
            <a:ext cx="1920240" cy="3383280"/>
          </a:xfrm>
          <a:prstGeom prst="roundRect">
            <a:avLst>
              <a:gd name="adj" fmla="val 7143"/>
            </a:avLst>
          </a:prstGeom>
          <a:solidFill>
            <a:srgbClr val="E8F6EF"/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46320" y="1463040"/>
            <a:ext cx="420624" cy="420624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682" y="1572402"/>
            <a:ext cx="201900" cy="201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84632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846320" y="2532888"/>
            <a:ext cx="91440" cy="9144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029200" y="24688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+ GST engine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063240"/>
            <a:ext cx="91440" cy="9144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029200" y="2999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 bills + words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846320" y="3593592"/>
            <a:ext cx="91440" cy="9144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029200" y="352958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match (6 cases)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123944"/>
            <a:ext cx="91440" cy="9144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029200" y="405993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13-week forecast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675120" y="1234440"/>
            <a:ext cx="1920240" cy="3383280"/>
          </a:xfrm>
          <a:prstGeom prst="roundRect">
            <a:avLst>
              <a:gd name="adj" fmla="val 7143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903720" y="1463040"/>
            <a:ext cx="420624" cy="420624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082" y="1572402"/>
            <a:ext cx="201900" cy="2019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0372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6903720" y="2532888"/>
            <a:ext cx="91440" cy="9144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086600" y="24688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demo data, not live shops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903720" y="3063240"/>
            <a:ext cx="91440" cy="9144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7086600" y="2999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real; RLS open for demo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helps, and what comes next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helps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8516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719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manufacturers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9933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who sell on credit daily and file GST — crores of MSMEs, mostly without software.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76606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633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Traders &amp; suppliers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9077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khata runs in notebooks and WhatsApp voice notes.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68046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547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accountants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822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reconcile bank statements and payments every month.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937760" y="1234440"/>
            <a:ext cx="3657600" cy="3383280"/>
          </a:xfrm>
          <a:prstGeom prst="roundRect">
            <a:avLst>
              <a:gd name="adj" fmla="val 405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21208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would build next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212080" y="2057400"/>
            <a:ext cx="365760" cy="36576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21208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760720" y="20391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 and real accounts, one per shop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212080" y="2880360"/>
            <a:ext cx="365760" cy="36576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21208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760720" y="28620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languages + WhatsApp bot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212080" y="3703320"/>
            <a:ext cx="365760" cy="36576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21208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760720" y="36850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e-Invoice IRP + live bank feeds via API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nitinraina-cachedinfo/a7d1d877-a336-4565-adcb-7cbe51d8340f/scratchpad/deck/brand/lockup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4045" y="704088"/>
            <a:ext cx="2321315" cy="329184"/>
          </a:xfrm>
          <a:prstGeom prst="rect">
            <a:avLst/>
          </a:prstGeom>
        </p:spPr>
      </p:pic>
      <p:pic>
        <p:nvPicPr>
          <p:cNvPr id="3" name="Image 1" descr="/private/tmp/claude-501/-Users-nitinraina-cachedinfo/a7d1d877-a336-4565-adcb-7cbe51d8340f/scratchpad/deck/brand/wordmark-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140" y="4526280"/>
            <a:ext cx="2178220" cy="1828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BolHisab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C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BolHisab right now — no install.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548640" y="1920240"/>
            <a:ext cx="2468880" cy="1143000"/>
          </a:xfrm>
          <a:prstGeom prst="roundRect">
            <a:avLst>
              <a:gd name="adj" fmla="val 12000"/>
            </a:avLst>
          </a:prstGeom>
          <a:solidFill>
            <a:srgbClr val="1D2D52"/>
          </a:solidFill>
          <a:ln w="12700">
            <a:solidFill>
              <a:srgbClr val="1D2D5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77240" y="2194560"/>
            <a:ext cx="594360" cy="59436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508760" y="22128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Gurvinder Singh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505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46120" y="1920240"/>
            <a:ext cx="2468880" cy="1143000"/>
          </a:xfrm>
          <a:prstGeom prst="roundRect">
            <a:avLst>
              <a:gd name="adj" fmla="val 12000"/>
            </a:avLst>
          </a:prstGeom>
          <a:solidFill>
            <a:srgbClr val="1D2D52"/>
          </a:solidFill>
          <a:ln w="12700">
            <a:solidFill>
              <a:srgbClr val="1D2D5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474720" y="2194560"/>
            <a:ext cx="594360" cy="59436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47472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206240" y="22128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teammate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206240" y="2505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testing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943600" y="1920240"/>
            <a:ext cx="2468880" cy="1143000"/>
          </a:xfrm>
          <a:prstGeom prst="roundRect">
            <a:avLst>
              <a:gd name="adj" fmla="val 12000"/>
            </a:avLst>
          </a:prstGeom>
          <a:solidFill>
            <a:srgbClr val="1D2D52"/>
          </a:solidFill>
          <a:ln w="12700">
            <a:solidFill>
              <a:srgbClr val="1D2D5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72200" y="2194560"/>
            <a:ext cx="594360" cy="59436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17220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903720" y="22128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teammate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903720" y="2505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and video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57016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60120" y="3520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C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2057400" y="35204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bolhisab.netlify.app</a:t>
            </a:r>
            <a:endParaRPr lang="en-US" sz="15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59936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60120" y="40233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C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2057400" y="402336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APK: landing page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Kagaz: sample pitch deck (HackCache 26)</dc:title>
  <dc:subject>PptxGenJS Presentation</dc:subject>
  <dc:creator>PptxGenJS</dc:creator>
  <cp:lastModifiedBy>PptxGenJS</cp:lastModifiedBy>
  <cp:revision>1</cp:revision>
  <dcterms:created xsi:type="dcterms:W3CDTF">2026-09-26T10:49:33Z</dcterms:created>
  <dcterms:modified xsi:type="dcterms:W3CDTF">2026-09-26T10:49:33Z</dcterms:modified>
</cp:coreProperties>
</file>