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only for you. Delete it before you submit.
Everything in this deck is an example project called Kagaz. Keep the structure, replace every word, number and picture with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DOES: tells the judge in five seconds what your project is.
Replace: project name, one-line pitch, team name and your problem statement track.
Tip: the one-line pitch should say what the user gets, not what technology you used. "The right papers, first time" beats "An AI-powered document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DOES: makes the judge feel the problem before you show your solution.
Replace the quote with a real one from a person you actually asked, and the numbers with real ones from your own quick survey (a WhatsApp poll to 10-20 people is enough). Say how you got them.
The numbers on this example slide are made up. Never invent yours: judges can tell, and "we asked 12 people" is more convincing than a big statistic you cannot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DOES: says what your app does in one sentence, and shows it.
Replace the drawn phone with a real screenshot of your app: drag a box around the phone to select all of it, press Delete, then Insert &gt; Image. Use the screen where the user gets the result.
Keep the three points to benefits the user notices, not features you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DOES: walks through the main journey, the same one your demo video shows.
Replace the three drawn phones with real screenshots, one per step: drag a box around each phone, press Delete, then Insert &gt; Image. If your journey has more than three steps, show the three that matter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DOES: answers "did they really build it, and do they understand it?" (the Technical Execution score).
List the tools you actually used, AI included. Be honest about what is real and what is simulated: judges read that as confidence, and they will find out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DOES: shows who benefits and that you have thought beyond the weekend (the Impact score).
Name specific groups of people, not "everyone". Keep "Next" to the three things you would genuinely build next,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THIS SLIDE DOES: tells judges who built it and where to try it.
Replace names, roles and both links with your real ones, and check each link in a private window before submitting. Share this deck with "Anyone with the link: Viewer" and paste that link into Deck URL on your HackCache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ivate/tmp/claude-501/-Users-nitinraina-cachedinfo/a7d1d877-a336-4565-adcb-7cbe51d8340f/scratchpad/deck/brand/lockup-on-light.png">    </p:cNvPr>
          <p:cNvPicPr>
            <a:picLocks noChangeAspect="1"/>
          </p:cNvPicPr>
          <p:nvPr/>
        </p:nvPicPr>
        <p:blipFill>
          <a:blip r:embed="rId1"/>
          <a:stretch>
            <a:fillRect/>
          </a:stretch>
        </p:blipFill>
        <p:spPr>
          <a:xfrm>
            <a:off x="548640" y="292608"/>
            <a:ext cx="2321315" cy="329184"/>
          </a:xfrm>
          <a:prstGeom prst="rect">
            <a:avLst/>
          </a:prstGeom>
        </p:spPr>
      </p:pic>
      <p:pic>
        <p:nvPicPr>
          <p:cNvPr id="3" name="Image 1" descr="/private/tmp/claude-501/-Users-nitinraina-cachedinfo/a7d1d877-a336-4565-adcb-7cbe51d8340f/scratchpad/deck/brand/wordmark-on-light.png">    </p:cNvPr>
          <p:cNvPicPr>
            <a:picLocks noChangeAspect="1"/>
          </p:cNvPicPr>
          <p:nvPr/>
        </p:nvPicPr>
        <p:blipFill>
          <a:blip r:embed="rId2"/>
          <a:stretch>
            <a:fillRect/>
          </a:stretch>
        </p:blipFill>
        <p:spPr>
          <a:xfrm>
            <a:off x="6417140" y="365760"/>
            <a:ext cx="2178220" cy="182880"/>
          </a:xfrm>
          <a:prstGeom prst="rect">
            <a:avLst/>
          </a:prstGeom>
        </p:spPr>
      </p:pic>
      <p:sp>
        <p:nvSpPr>
          <p:cNvPr id="4" name="Text 0"/>
          <p:cNvSpPr txBox="1"/>
          <p:nvPr/>
        </p:nvSpPr>
        <p:spPr>
          <a:xfrm>
            <a:off x="548640" y="822960"/>
            <a:ext cx="8046720" cy="548640"/>
          </a:xfrm>
          <a:prstGeom prst="rect">
            <a:avLst/>
          </a:prstGeom>
          <a:noFill/>
          <a:ln/>
        </p:spPr>
        <p:txBody>
          <a:bodyPr wrap="square" lIns="0" tIns="0" rIns="0" bIns="0" rtlCol="0" anchor="t"/>
          <a:lstStyle/>
          <a:p>
            <a:pPr indent="0" marL="0">
              <a:buNone/>
            </a:pPr>
            <a:r>
              <a:rPr lang="en-US" sz="3200" b="1" dirty="0">
                <a:solidFill>
                  <a:srgbClr val="14213D"/>
                </a:solidFill>
                <a:latin typeface="Arial" pitchFamily="34" charset="0"/>
                <a:ea typeface="Arial" pitchFamily="34" charset="-122"/>
                <a:cs typeface="Arial" pitchFamily="34" charset="-120"/>
              </a:rPr>
              <a:t>How to use this template</a:t>
            </a:r>
            <a:endParaRPr lang="en-US" sz="3200" dirty="0"/>
          </a:p>
        </p:txBody>
      </p:sp>
      <p:sp>
        <p:nvSpPr>
          <p:cNvPr id="5" name="Text 1"/>
          <p:cNvSpPr txBox="1"/>
          <p:nvPr/>
        </p:nvSpPr>
        <p:spPr>
          <a:xfrm>
            <a:off x="548640" y="1371600"/>
            <a:ext cx="8046720" cy="365760"/>
          </a:xfrm>
          <a:prstGeom prst="rect">
            <a:avLst/>
          </a:prstGeom>
          <a:noFill/>
          <a:ln/>
        </p:spPr>
        <p:txBody>
          <a:bodyPr wrap="square" lIns="0" tIns="0" rIns="0" bIns="0" rtlCol="0" anchor="t"/>
          <a:lstStyle/>
          <a:p>
            <a:pPr indent="0" marL="0">
              <a:buNone/>
            </a:pPr>
            <a:r>
              <a:rPr lang="en-US" sz="1400" dirty="0">
                <a:solidFill>
                  <a:srgbClr val="5E6B7E"/>
                </a:solidFill>
                <a:latin typeface="Arial" pitchFamily="34" charset="0"/>
                <a:ea typeface="Arial" pitchFamily="34" charset="-122"/>
                <a:cs typeface="Arial" pitchFamily="34" charset="-120"/>
              </a:rPr>
              <a:t>A finished sample deck for an example project, Kagaz. Keep the structure; replace everything else.</a:t>
            </a:r>
            <a:endParaRPr lang="en-US" sz="1400" dirty="0"/>
          </a:p>
        </p:txBody>
      </p:sp>
      <p:sp>
        <p:nvSpPr>
          <p:cNvPr id="6" name="Shape 2"/>
          <p:cNvSpPr/>
          <p:nvPr/>
        </p:nvSpPr>
        <p:spPr>
          <a:xfrm>
            <a:off x="548640" y="1920240"/>
            <a:ext cx="475488" cy="475488"/>
          </a:xfrm>
          <a:prstGeom prst="ellipse">
            <a:avLst/>
          </a:prstGeom>
          <a:solidFill>
            <a:srgbClr val="2F5BD3"/>
          </a:solidFill>
          <a:ln w="12700">
            <a:solidFill>
              <a:srgbClr val="2F5BD3"/>
            </a:solidFill>
            <a:prstDash val="solid"/>
          </a:ln>
        </p:spPr>
      </p:sp>
      <p:pic>
        <p:nvPicPr>
          <p:cNvPr id="7" name="Image 2" descr="preencoded.png">    </p:cNvPr>
          <p:cNvPicPr>
            <a:picLocks noChangeAspect="1"/>
          </p:cNvPicPr>
          <p:nvPr/>
        </p:nvPicPr>
        <p:blipFill>
          <a:blip r:embed="rId3"/>
          <a:stretch>
            <a:fillRect/>
          </a:stretch>
        </p:blipFill>
        <p:spPr>
          <a:xfrm>
            <a:off x="677022" y="2048622"/>
            <a:ext cx="218724" cy="218724"/>
          </a:xfrm>
          <a:prstGeom prst="rect">
            <a:avLst/>
          </a:prstGeom>
        </p:spPr>
      </p:pic>
      <p:sp>
        <p:nvSpPr>
          <p:cNvPr id="8" name="Text 3"/>
          <p:cNvSpPr txBox="1"/>
          <p:nvPr/>
        </p:nvSpPr>
        <p:spPr>
          <a:xfrm>
            <a:off x="1234440" y="1901952"/>
            <a:ext cx="4754880" cy="274320"/>
          </a:xfrm>
          <a:prstGeom prst="rect">
            <a:avLst/>
          </a:prstGeom>
          <a:noFill/>
          <a:ln/>
        </p:spPr>
        <p:txBody>
          <a:bodyPr wrap="square" lIns="0" tIns="0" rIns="0" bIns="0" rtlCol="0" anchor="t"/>
          <a:lstStyle/>
          <a:p>
            <a:pPr indent="0" marL="0">
              <a:buNone/>
            </a:pPr>
            <a:r>
              <a:rPr lang="en-US" sz="1600" b="1" dirty="0">
                <a:solidFill>
                  <a:srgbClr val="1F2937"/>
                </a:solidFill>
                <a:latin typeface="Arial" pitchFamily="34" charset="0"/>
                <a:ea typeface="Arial" pitchFamily="34" charset="-122"/>
                <a:cs typeface="Arial" pitchFamily="34" charset="-120"/>
              </a:rPr>
              <a:t>This is your own copy</a:t>
            </a:r>
            <a:endParaRPr lang="en-US" sz="1600" dirty="0"/>
          </a:p>
        </p:txBody>
      </p:sp>
      <p:sp>
        <p:nvSpPr>
          <p:cNvPr id="9" name="Text 4"/>
          <p:cNvSpPr txBox="1"/>
          <p:nvPr/>
        </p:nvSpPr>
        <p:spPr>
          <a:xfrm>
            <a:off x="1234440" y="2194560"/>
            <a:ext cx="4754880" cy="365760"/>
          </a:xfrm>
          <a:prstGeom prst="rect">
            <a:avLst/>
          </a:prstGeom>
          <a:noFill/>
          <a:ln/>
        </p:spPr>
        <p:txBody>
          <a:bodyPr wrap="square" lIns="0" tIns="0" rIns="0" bIns="0" rtlCol="0" anchor="t"/>
          <a:lstStyle/>
          <a:p>
            <a:pPr indent="0" marL="0">
              <a:buNone/>
            </a:pPr>
            <a:r>
              <a:rPr lang="en-US" sz="1200" dirty="0">
                <a:solidFill>
                  <a:srgbClr val="5E6B7E"/>
                </a:solidFill>
                <a:latin typeface="Arial" pitchFamily="34" charset="0"/>
                <a:ea typeface="Arial" pitchFamily="34" charset="-122"/>
                <a:cs typeface="Arial" pitchFamily="34" charset="-120"/>
              </a:rPr>
              <a:t>Edit freely. The original template stays as it is.</a:t>
            </a:r>
            <a:endParaRPr lang="en-US" sz="1200" dirty="0"/>
          </a:p>
        </p:txBody>
      </p:sp>
      <p:sp>
        <p:nvSpPr>
          <p:cNvPr id="10" name="Shape 5"/>
          <p:cNvSpPr/>
          <p:nvPr/>
        </p:nvSpPr>
        <p:spPr>
          <a:xfrm>
            <a:off x="548640" y="2596896"/>
            <a:ext cx="475488" cy="475488"/>
          </a:xfrm>
          <a:prstGeom prst="ellipse">
            <a:avLst/>
          </a:prstGeom>
          <a:solidFill>
            <a:srgbClr val="2F5BD3"/>
          </a:solidFill>
          <a:ln w="12700">
            <a:solidFill>
              <a:srgbClr val="2F5BD3"/>
            </a:solidFill>
            <a:prstDash val="solid"/>
          </a:ln>
        </p:spPr>
      </p:sp>
      <p:pic>
        <p:nvPicPr>
          <p:cNvPr id="11" name="Image 3" descr="preencoded.png">    </p:cNvPr>
          <p:cNvPicPr>
            <a:picLocks noChangeAspect="1"/>
          </p:cNvPicPr>
          <p:nvPr/>
        </p:nvPicPr>
        <p:blipFill>
          <a:blip r:embed="rId4"/>
          <a:stretch>
            <a:fillRect/>
          </a:stretch>
        </p:blipFill>
        <p:spPr>
          <a:xfrm>
            <a:off x="677022" y="2725278"/>
            <a:ext cx="218724" cy="218724"/>
          </a:xfrm>
          <a:prstGeom prst="rect">
            <a:avLst/>
          </a:prstGeom>
        </p:spPr>
      </p:pic>
      <p:sp>
        <p:nvSpPr>
          <p:cNvPr id="12" name="Text 6"/>
          <p:cNvSpPr txBox="1"/>
          <p:nvPr/>
        </p:nvSpPr>
        <p:spPr>
          <a:xfrm>
            <a:off x="1234440" y="2578608"/>
            <a:ext cx="4754880" cy="274320"/>
          </a:xfrm>
          <a:prstGeom prst="rect">
            <a:avLst/>
          </a:prstGeom>
          <a:noFill/>
          <a:ln/>
        </p:spPr>
        <p:txBody>
          <a:bodyPr wrap="square" lIns="0" tIns="0" rIns="0" bIns="0" rtlCol="0" anchor="t"/>
          <a:lstStyle/>
          <a:p>
            <a:pPr indent="0" marL="0">
              <a:buNone/>
            </a:pPr>
            <a:r>
              <a:rPr lang="en-US" sz="1600" b="1" dirty="0">
                <a:solidFill>
                  <a:srgbClr val="1F2937"/>
                </a:solidFill>
                <a:latin typeface="Arial" pitchFamily="34" charset="0"/>
                <a:ea typeface="Arial" pitchFamily="34" charset="-122"/>
                <a:cs typeface="Arial" pitchFamily="34" charset="-120"/>
              </a:rPr>
              <a:t>Read the speaker notes on every slide</a:t>
            </a:r>
            <a:endParaRPr lang="en-US" sz="1600" dirty="0"/>
          </a:p>
        </p:txBody>
      </p:sp>
      <p:sp>
        <p:nvSpPr>
          <p:cNvPr id="13" name="Text 7"/>
          <p:cNvSpPr txBox="1"/>
          <p:nvPr/>
        </p:nvSpPr>
        <p:spPr>
          <a:xfrm>
            <a:off x="1234440" y="2871216"/>
            <a:ext cx="4754880" cy="365760"/>
          </a:xfrm>
          <a:prstGeom prst="rect">
            <a:avLst/>
          </a:prstGeom>
          <a:noFill/>
          <a:ln/>
        </p:spPr>
        <p:txBody>
          <a:bodyPr wrap="square" lIns="0" tIns="0" rIns="0" bIns="0" rtlCol="0" anchor="t"/>
          <a:lstStyle/>
          <a:p>
            <a:pPr indent="0" marL="0">
              <a:buNone/>
            </a:pPr>
            <a:r>
              <a:rPr lang="en-US" sz="1200" dirty="0">
                <a:solidFill>
                  <a:srgbClr val="5E6B7E"/>
                </a:solidFill>
                <a:latin typeface="Arial" pitchFamily="34" charset="0"/>
                <a:ea typeface="Arial" pitchFamily="34" charset="-122"/>
                <a:cs typeface="Arial" pitchFamily="34" charset="-120"/>
              </a:rPr>
              <a:t>View &gt; Show speaker notes. Each one says what to replace.</a:t>
            </a:r>
            <a:endParaRPr lang="en-US" sz="1200" dirty="0"/>
          </a:p>
        </p:txBody>
      </p:sp>
      <p:sp>
        <p:nvSpPr>
          <p:cNvPr id="14" name="Shape 8"/>
          <p:cNvSpPr/>
          <p:nvPr/>
        </p:nvSpPr>
        <p:spPr>
          <a:xfrm>
            <a:off x="548640" y="3273552"/>
            <a:ext cx="475488" cy="475488"/>
          </a:xfrm>
          <a:prstGeom prst="ellipse">
            <a:avLst/>
          </a:prstGeom>
          <a:solidFill>
            <a:srgbClr val="2F5BD3"/>
          </a:solidFill>
          <a:ln w="12700">
            <a:solidFill>
              <a:srgbClr val="2F5BD3"/>
            </a:solidFill>
            <a:prstDash val="solid"/>
          </a:ln>
        </p:spPr>
      </p:sp>
      <p:pic>
        <p:nvPicPr>
          <p:cNvPr id="15" name="Image 4" descr="preencoded.png">    </p:cNvPr>
          <p:cNvPicPr>
            <a:picLocks noChangeAspect="1"/>
          </p:cNvPicPr>
          <p:nvPr/>
        </p:nvPicPr>
        <p:blipFill>
          <a:blip r:embed="rId5"/>
          <a:stretch>
            <a:fillRect/>
          </a:stretch>
        </p:blipFill>
        <p:spPr>
          <a:xfrm>
            <a:off x="677022" y="3401934"/>
            <a:ext cx="218724" cy="218724"/>
          </a:xfrm>
          <a:prstGeom prst="rect">
            <a:avLst/>
          </a:prstGeom>
        </p:spPr>
      </p:pic>
      <p:sp>
        <p:nvSpPr>
          <p:cNvPr id="16" name="Text 9"/>
          <p:cNvSpPr txBox="1"/>
          <p:nvPr/>
        </p:nvSpPr>
        <p:spPr>
          <a:xfrm>
            <a:off x="1234440" y="3255264"/>
            <a:ext cx="4754880" cy="274320"/>
          </a:xfrm>
          <a:prstGeom prst="rect">
            <a:avLst/>
          </a:prstGeom>
          <a:noFill/>
          <a:ln/>
        </p:spPr>
        <p:txBody>
          <a:bodyPr wrap="square" lIns="0" tIns="0" rIns="0" bIns="0" rtlCol="0" anchor="t"/>
          <a:lstStyle/>
          <a:p>
            <a:pPr indent="0" marL="0">
              <a:buNone/>
            </a:pPr>
            <a:r>
              <a:rPr lang="en-US" sz="1600" b="1" dirty="0">
                <a:solidFill>
                  <a:srgbClr val="1F2937"/>
                </a:solidFill>
                <a:latin typeface="Arial" pitchFamily="34" charset="0"/>
                <a:ea typeface="Arial" pitchFamily="34" charset="-122"/>
                <a:cs typeface="Arial" pitchFamily="34" charset="-120"/>
              </a:rPr>
              <a:t>Swap the drawn phones for real screenshots</a:t>
            </a:r>
            <a:endParaRPr lang="en-US" sz="1600" dirty="0"/>
          </a:p>
        </p:txBody>
      </p:sp>
      <p:sp>
        <p:nvSpPr>
          <p:cNvPr id="17" name="Text 10"/>
          <p:cNvSpPr txBox="1"/>
          <p:nvPr/>
        </p:nvSpPr>
        <p:spPr>
          <a:xfrm>
            <a:off x="1234440" y="3547872"/>
            <a:ext cx="4754880" cy="365760"/>
          </a:xfrm>
          <a:prstGeom prst="rect">
            <a:avLst/>
          </a:prstGeom>
          <a:noFill/>
          <a:ln/>
        </p:spPr>
        <p:txBody>
          <a:bodyPr wrap="square" lIns="0" tIns="0" rIns="0" bIns="0" rtlCol="0" anchor="t"/>
          <a:lstStyle/>
          <a:p>
            <a:pPr indent="0" marL="0">
              <a:buNone/>
            </a:pPr>
            <a:r>
              <a:rPr lang="en-US" sz="1200" dirty="0">
                <a:solidFill>
                  <a:srgbClr val="5E6B7E"/>
                </a:solidFill>
                <a:latin typeface="Arial" pitchFamily="34" charset="0"/>
                <a:ea typeface="Arial" pitchFamily="34" charset="-122"/>
                <a:cs typeface="Arial" pitchFamily="34" charset="-120"/>
              </a:rPr>
              <a:t>Drag a box around a phone, Delete, then Insert &gt; Image.</a:t>
            </a:r>
            <a:endParaRPr lang="en-US" sz="1200" dirty="0"/>
          </a:p>
        </p:txBody>
      </p:sp>
      <p:sp>
        <p:nvSpPr>
          <p:cNvPr id="18" name="Shape 11"/>
          <p:cNvSpPr/>
          <p:nvPr/>
        </p:nvSpPr>
        <p:spPr>
          <a:xfrm>
            <a:off x="548640" y="3950208"/>
            <a:ext cx="475488" cy="475488"/>
          </a:xfrm>
          <a:prstGeom prst="ellipse">
            <a:avLst/>
          </a:prstGeom>
          <a:solidFill>
            <a:srgbClr val="18A06B"/>
          </a:solidFill>
          <a:ln w="12700">
            <a:solidFill>
              <a:srgbClr val="18A06B"/>
            </a:solidFill>
            <a:prstDash val="solid"/>
          </a:ln>
        </p:spPr>
      </p:sp>
      <p:pic>
        <p:nvPicPr>
          <p:cNvPr id="19" name="Image 5" descr="preencoded.png">    </p:cNvPr>
          <p:cNvPicPr>
            <a:picLocks noChangeAspect="1"/>
          </p:cNvPicPr>
          <p:nvPr/>
        </p:nvPicPr>
        <p:blipFill>
          <a:blip r:embed="rId6"/>
          <a:stretch>
            <a:fillRect/>
          </a:stretch>
        </p:blipFill>
        <p:spPr>
          <a:xfrm>
            <a:off x="677022" y="4078590"/>
            <a:ext cx="218724" cy="218724"/>
          </a:xfrm>
          <a:prstGeom prst="rect">
            <a:avLst/>
          </a:prstGeom>
        </p:spPr>
      </p:pic>
      <p:sp>
        <p:nvSpPr>
          <p:cNvPr id="20" name="Text 12"/>
          <p:cNvSpPr txBox="1"/>
          <p:nvPr/>
        </p:nvSpPr>
        <p:spPr>
          <a:xfrm>
            <a:off x="1234440" y="3931920"/>
            <a:ext cx="4754880" cy="274320"/>
          </a:xfrm>
          <a:prstGeom prst="rect">
            <a:avLst/>
          </a:prstGeom>
          <a:noFill/>
          <a:ln/>
        </p:spPr>
        <p:txBody>
          <a:bodyPr wrap="square" lIns="0" tIns="0" rIns="0" bIns="0" rtlCol="0" anchor="t"/>
          <a:lstStyle/>
          <a:p>
            <a:pPr indent="0" marL="0">
              <a:buNone/>
            </a:pPr>
            <a:r>
              <a:rPr lang="en-US" sz="1600" b="1" dirty="0">
                <a:solidFill>
                  <a:srgbClr val="1F2937"/>
                </a:solidFill>
                <a:latin typeface="Arial" pitchFamily="34" charset="0"/>
                <a:ea typeface="Arial" pitchFamily="34" charset="-122"/>
                <a:cs typeface="Arial" pitchFamily="34" charset="-120"/>
              </a:rPr>
              <a:t>Share it and submit the link</a:t>
            </a:r>
            <a:endParaRPr lang="en-US" sz="1600" dirty="0"/>
          </a:p>
        </p:txBody>
      </p:sp>
      <p:sp>
        <p:nvSpPr>
          <p:cNvPr id="21" name="Text 13"/>
          <p:cNvSpPr txBox="1"/>
          <p:nvPr/>
        </p:nvSpPr>
        <p:spPr>
          <a:xfrm>
            <a:off x="1234440" y="4224528"/>
            <a:ext cx="4754880" cy="365760"/>
          </a:xfrm>
          <a:prstGeom prst="rect">
            <a:avLst/>
          </a:prstGeom>
          <a:noFill/>
          <a:ln/>
        </p:spPr>
        <p:txBody>
          <a:bodyPr wrap="square" lIns="0" tIns="0" rIns="0" bIns="0" rtlCol="0" anchor="t"/>
          <a:lstStyle/>
          <a:p>
            <a:pPr indent="0" marL="0">
              <a:buNone/>
            </a:pPr>
            <a:r>
              <a:rPr lang="en-US" sz="1200" dirty="0">
                <a:solidFill>
                  <a:srgbClr val="5E6B7E"/>
                </a:solidFill>
                <a:latin typeface="Arial" pitchFamily="34" charset="0"/>
                <a:ea typeface="Arial" pitchFamily="34" charset="-122"/>
                <a:cs typeface="Arial" pitchFamily="34" charset="-120"/>
              </a:rPr>
              <a:t>Share: Anyone with the link, Viewer. Paste it into Deck URL.</a:t>
            </a:r>
            <a:endParaRPr lang="en-US" sz="1200" dirty="0"/>
          </a:p>
        </p:txBody>
      </p:sp>
      <p:sp>
        <p:nvSpPr>
          <p:cNvPr id="22" name="Shape 14"/>
          <p:cNvSpPr/>
          <p:nvPr/>
        </p:nvSpPr>
        <p:spPr>
          <a:xfrm>
            <a:off x="6355080" y="1920240"/>
            <a:ext cx="2240280" cy="2286000"/>
          </a:xfrm>
          <a:prstGeom prst="roundRect">
            <a:avLst>
              <a:gd name="adj" fmla="val 6122"/>
            </a:avLst>
          </a:prstGeom>
          <a:solidFill>
            <a:srgbClr val="EEF2FA"/>
          </a:solidFill>
          <a:ln w="12700">
            <a:solidFill>
              <a:srgbClr val="EEF2FA"/>
            </a:solidFill>
            <a:prstDash val="solid"/>
          </a:ln>
        </p:spPr>
      </p:sp>
      <p:sp>
        <p:nvSpPr>
          <p:cNvPr id="23" name="Text 15"/>
          <p:cNvSpPr txBox="1"/>
          <p:nvPr/>
        </p:nvSpPr>
        <p:spPr>
          <a:xfrm>
            <a:off x="6583680" y="2148840"/>
            <a:ext cx="1783080" cy="731520"/>
          </a:xfrm>
          <a:prstGeom prst="rect">
            <a:avLst/>
          </a:prstGeom>
          <a:noFill/>
          <a:ln/>
        </p:spPr>
        <p:txBody>
          <a:bodyPr wrap="square" lIns="0" tIns="0" rIns="0" bIns="0" rtlCol="0" anchor="t"/>
          <a:lstStyle/>
          <a:p>
            <a:pPr indent="0" marL="0">
              <a:buNone/>
            </a:pPr>
            <a:r>
              <a:rPr lang="en-US" sz="1600" b="1" dirty="0">
                <a:solidFill>
                  <a:srgbClr val="14213D"/>
                </a:solidFill>
                <a:latin typeface="Arial" pitchFamily="34" charset="0"/>
                <a:ea typeface="Arial" pitchFamily="34" charset="-122"/>
                <a:cs typeface="Arial" pitchFamily="34" charset="-120"/>
              </a:rPr>
              <a:t>Delete this slide before you submit.</a:t>
            </a:r>
            <a:endParaRPr lang="en-US" sz="1600" dirty="0"/>
          </a:p>
        </p:txBody>
      </p:sp>
      <p:sp>
        <p:nvSpPr>
          <p:cNvPr id="24" name="Text 16"/>
          <p:cNvSpPr txBox="1"/>
          <p:nvPr/>
        </p:nvSpPr>
        <p:spPr>
          <a:xfrm>
            <a:off x="6583680" y="2971800"/>
            <a:ext cx="1783080" cy="1097280"/>
          </a:xfrm>
          <a:prstGeom prst="rect">
            <a:avLst/>
          </a:prstGeom>
          <a:noFill/>
          <a:ln/>
        </p:spPr>
        <p:txBody>
          <a:bodyPr wrap="square" lIns="0" tIns="0" rIns="0" bIns="0" rtlCol="0" anchor="t"/>
          <a:lstStyle/>
          <a:p>
            <a:pPr indent="0" marL="0">
              <a:buNone/>
            </a:pPr>
            <a:r>
              <a:rPr lang="en-US" sz="1200" dirty="0">
                <a:solidFill>
                  <a:srgbClr val="1F2937"/>
                </a:solidFill>
                <a:latin typeface="Arial" pitchFamily="34" charset="0"/>
                <a:ea typeface="Arial" pitchFamily="34" charset="-122"/>
                <a:cs typeface="Arial" pitchFamily="34" charset="-120"/>
              </a:rPr>
              <a:t>The seven slides after it are the pitch: problem, solution, how it works, how it is built, impact, and team.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213D"/>
        </a:solidFill>
      </p:bgPr>
    </p:bg>
    <p:spTree>
      <p:nvGrpSpPr>
        <p:cNvPr id="1" name=""/>
        <p:cNvGrpSpPr/>
        <p:nvPr/>
      </p:nvGrpSpPr>
      <p:grpSpPr>
        <a:xfrm>
          <a:off x="0" y="0"/>
          <a:ext cx="0" cy="0"/>
          <a:chOff x="0" y="0"/>
          <a:chExt cx="0" cy="0"/>
        </a:xfrm>
      </p:grpSpPr>
      <p:pic>
        <p:nvPicPr>
          <p:cNvPr id="2" name="Image 0" descr="/private/tmp/claude-501/-Users-nitinraina-cachedinfo/a7d1d877-a336-4565-adcb-7cbe51d8340f/scratchpad/deck/brand/lockup-on-dark.png">    </p:cNvPr>
          <p:cNvPicPr>
            <a:picLocks noChangeAspect="1"/>
          </p:cNvPicPr>
          <p:nvPr/>
        </p:nvPicPr>
        <p:blipFill>
          <a:blip r:embed="rId1"/>
          <a:stretch>
            <a:fillRect/>
          </a:stretch>
        </p:blipFill>
        <p:spPr>
          <a:xfrm>
            <a:off x="548640" y="384048"/>
            <a:ext cx="2450277" cy="347472"/>
          </a:xfrm>
          <a:prstGeom prst="rect">
            <a:avLst/>
          </a:prstGeom>
        </p:spPr>
      </p:pic>
      <p:pic>
        <p:nvPicPr>
          <p:cNvPr id="3" name="Image 1" descr="/private/tmp/claude-501/-Users-nitinraina-cachedinfo/a7d1d877-a336-4565-adcb-7cbe51d8340f/scratchpad/deck/brand/wordmark-on-dark.png">    </p:cNvPr>
          <p:cNvPicPr>
            <a:picLocks noChangeAspect="1"/>
          </p:cNvPicPr>
          <p:nvPr/>
        </p:nvPicPr>
        <p:blipFill>
          <a:blip r:embed="rId2"/>
          <a:stretch>
            <a:fillRect/>
          </a:stretch>
        </p:blipFill>
        <p:spPr>
          <a:xfrm>
            <a:off x="3273237" y="466344"/>
            <a:ext cx="2178220" cy="182880"/>
          </a:xfrm>
          <a:prstGeom prst="rect">
            <a:avLst/>
          </a:prstGeom>
        </p:spPr>
      </p:pic>
      <p:sp>
        <p:nvSpPr>
          <p:cNvPr id="4" name="Shape 0"/>
          <p:cNvSpPr/>
          <p:nvPr/>
        </p:nvSpPr>
        <p:spPr>
          <a:xfrm>
            <a:off x="548640" y="987552"/>
            <a:ext cx="2103120" cy="329184"/>
          </a:xfrm>
          <a:prstGeom prst="roundRect">
            <a:avLst>
              <a:gd name="adj" fmla="val 50000"/>
            </a:avLst>
          </a:prstGeom>
          <a:solidFill>
            <a:srgbClr val="1D2D52"/>
          </a:solidFill>
          <a:ln w="12700">
            <a:solidFill>
              <a:srgbClr val="F0A43A"/>
            </a:solidFill>
            <a:prstDash val="solid"/>
          </a:ln>
        </p:spPr>
      </p:sp>
      <p:sp>
        <p:nvSpPr>
          <p:cNvPr id="5" name="Text 1"/>
          <p:cNvSpPr txBox="1"/>
          <p:nvPr/>
        </p:nvSpPr>
        <p:spPr>
          <a:xfrm>
            <a:off x="548640" y="987552"/>
            <a:ext cx="2103120" cy="329184"/>
          </a:xfrm>
          <a:prstGeom prst="rect">
            <a:avLst/>
          </a:prstGeom>
          <a:noFill/>
          <a:ln/>
        </p:spPr>
        <p:txBody>
          <a:bodyPr wrap="square" lIns="0" tIns="0" rIns="0" bIns="0" rtlCol="0" anchor="ctr"/>
          <a:lstStyle/>
          <a:p>
            <a:pPr algn="ctr" indent="0" marL="0">
              <a:buNone/>
            </a:pPr>
            <a:r>
              <a:rPr lang="en-US" sz="1100" b="1" dirty="0">
                <a:solidFill>
                  <a:srgbClr val="F0A43A"/>
                </a:solidFill>
                <a:latin typeface="Arial" pitchFamily="34" charset="0"/>
                <a:ea typeface="Arial" pitchFamily="34" charset="-122"/>
                <a:cs typeface="Arial" pitchFamily="34" charset="-120"/>
              </a:rPr>
              <a:t>Reimagine Government</a:t>
            </a:r>
            <a:endParaRPr lang="en-US" sz="1100" dirty="0"/>
          </a:p>
        </p:txBody>
      </p:sp>
      <p:sp>
        <p:nvSpPr>
          <p:cNvPr id="6" name="Text 2"/>
          <p:cNvSpPr txBox="1"/>
          <p:nvPr/>
        </p:nvSpPr>
        <p:spPr>
          <a:xfrm>
            <a:off x="548640" y="1417320"/>
            <a:ext cx="5120640" cy="1097280"/>
          </a:xfrm>
          <a:prstGeom prst="rect">
            <a:avLst/>
          </a:prstGeom>
          <a:noFill/>
          <a:ln/>
        </p:spPr>
        <p:txBody>
          <a:bodyPr wrap="square" lIns="0" tIns="0" rIns="0" bIns="0" rtlCol="0" anchor="t"/>
          <a:lstStyle/>
          <a:p>
            <a:pPr indent="0" marL="0">
              <a:buNone/>
            </a:pPr>
            <a:r>
              <a:rPr lang="en-US" sz="7200" b="1" dirty="0">
                <a:solidFill>
                  <a:srgbClr val="FFFFFF"/>
                </a:solidFill>
                <a:latin typeface="Arial" pitchFamily="34" charset="0"/>
                <a:ea typeface="Arial" pitchFamily="34" charset="-122"/>
                <a:cs typeface="Arial" pitchFamily="34" charset="-120"/>
              </a:rPr>
              <a:t>Kagaz</a:t>
            </a:r>
            <a:endParaRPr lang="en-US" sz="7200" dirty="0"/>
          </a:p>
        </p:txBody>
      </p:sp>
      <p:sp>
        <p:nvSpPr>
          <p:cNvPr id="7" name="Text 3"/>
          <p:cNvSpPr txBox="1"/>
          <p:nvPr/>
        </p:nvSpPr>
        <p:spPr>
          <a:xfrm>
            <a:off x="548640" y="2560320"/>
            <a:ext cx="5120640" cy="502920"/>
          </a:xfrm>
          <a:prstGeom prst="rect">
            <a:avLst/>
          </a:prstGeom>
          <a:noFill/>
          <a:ln/>
        </p:spPr>
        <p:txBody>
          <a:bodyPr wrap="square" lIns="0" tIns="0" rIns="0" bIns="0" rtlCol="0" anchor="t"/>
          <a:lstStyle/>
          <a:p>
            <a:pPr indent="0" marL="0">
              <a:buNone/>
            </a:pPr>
            <a:r>
              <a:rPr lang="en-US" sz="2600" dirty="0">
                <a:solidFill>
                  <a:srgbClr val="B9C8F2"/>
                </a:solidFill>
                <a:latin typeface="Arial" pitchFamily="34" charset="0"/>
                <a:ea typeface="Arial" pitchFamily="34" charset="-122"/>
                <a:cs typeface="Arial" pitchFamily="34" charset="-120"/>
              </a:rPr>
              <a:t>The right papers, first time.</a:t>
            </a:r>
            <a:endParaRPr lang="en-US" sz="2600" dirty="0"/>
          </a:p>
        </p:txBody>
      </p:sp>
      <p:sp>
        <p:nvSpPr>
          <p:cNvPr id="8" name="Text 4"/>
          <p:cNvSpPr txBox="1"/>
          <p:nvPr/>
        </p:nvSpPr>
        <p:spPr>
          <a:xfrm>
            <a:off x="548640" y="3246120"/>
            <a:ext cx="4754880" cy="685800"/>
          </a:xfrm>
          <a:prstGeom prst="rect">
            <a:avLst/>
          </a:prstGeom>
          <a:noFill/>
          <a:ln/>
        </p:spPr>
        <p:txBody>
          <a:bodyPr wrap="square" lIns="0" tIns="0" rIns="0" bIns="0" rtlCol="0" anchor="t"/>
          <a:lstStyle/>
          <a:p>
            <a:pPr indent="0" marL="0">
              <a:buNone/>
            </a:pPr>
            <a:r>
              <a:rPr lang="en-US" sz="1400" dirty="0">
                <a:solidFill>
                  <a:srgbClr val="C9D3EA"/>
                </a:solidFill>
                <a:latin typeface="Arial" pitchFamily="34" charset="0"/>
                <a:ea typeface="Arial" pitchFamily="34" charset="-122"/>
                <a:cs typeface="Arial" pitchFamily="34" charset="-120"/>
              </a:rPr>
              <a:t>Tell us what you are applying for, answer three questions, and get the exact document checklist for your case.</a:t>
            </a:r>
            <a:endParaRPr lang="en-US" sz="1400" dirty="0"/>
          </a:p>
        </p:txBody>
      </p:sp>
      <p:sp>
        <p:nvSpPr>
          <p:cNvPr id="9" name="Text 5"/>
          <p:cNvSpPr txBox="1"/>
          <p:nvPr/>
        </p:nvSpPr>
        <p:spPr>
          <a:xfrm>
            <a:off x="548640" y="4251960"/>
            <a:ext cx="5120640" cy="274320"/>
          </a:xfrm>
          <a:prstGeom prst="rect">
            <a:avLst/>
          </a:prstGeom>
          <a:noFill/>
          <a:ln/>
        </p:spPr>
        <p:txBody>
          <a:bodyPr wrap="square" lIns="0" tIns="0" rIns="0" bIns="0" rtlCol="0" anchor="t"/>
          <a:lstStyle/>
          <a:p>
            <a:pPr indent="0" marL="0">
              <a:buNone/>
            </a:pPr>
            <a:r>
              <a:rPr lang="en-US" sz="1200" dirty="0">
                <a:solidFill>
                  <a:srgbClr val="9AA8C7"/>
                </a:solidFill>
                <a:latin typeface="Arial" pitchFamily="34" charset="0"/>
                <a:ea typeface="Arial" pitchFamily="34" charset="-122"/>
                <a:cs typeface="Arial" pitchFamily="34" charset="-120"/>
              </a:rPr>
              <a:t>Team Paperless  ·  Riya Sharma, Aman Gupta, Sara Khan</a:t>
            </a:r>
            <a:endParaRPr lang="en-US" sz="1200" dirty="0"/>
          </a:p>
        </p:txBody>
      </p:sp>
      <p:sp>
        <p:nvSpPr>
          <p:cNvPr id="10" name="Shape 6"/>
          <p:cNvSpPr/>
          <p:nvPr/>
        </p:nvSpPr>
        <p:spPr>
          <a:xfrm>
            <a:off x="6263640" y="502920"/>
            <a:ext cx="2103120" cy="4160520"/>
          </a:xfrm>
          <a:prstGeom prst="roundRect">
            <a:avLst>
              <a:gd name="adj" fmla="val 14000"/>
            </a:avLst>
          </a:prstGeom>
          <a:solidFill>
            <a:srgbClr val="0B1224"/>
          </a:solidFill>
          <a:ln w="12700">
            <a:solidFill>
              <a:srgbClr val="3B4B70"/>
            </a:solidFill>
            <a:prstDash val="solid"/>
          </a:ln>
        </p:spPr>
      </p:sp>
      <p:sp>
        <p:nvSpPr>
          <p:cNvPr id="11" name="Shape 7"/>
          <p:cNvSpPr/>
          <p:nvPr/>
        </p:nvSpPr>
        <p:spPr>
          <a:xfrm>
            <a:off x="6389827" y="629107"/>
            <a:ext cx="1850746" cy="3908146"/>
          </a:xfrm>
          <a:prstGeom prst="roundRect">
            <a:avLst>
              <a:gd name="adj" fmla="val 10000"/>
            </a:avLst>
          </a:prstGeom>
          <a:solidFill>
            <a:srgbClr val="FFFFFF"/>
          </a:solidFill>
          <a:ln w="12700">
            <a:solidFill>
              <a:srgbClr val="FFFFFF"/>
            </a:solidFill>
            <a:prstDash val="solid"/>
          </a:ln>
        </p:spPr>
      </p:sp>
      <p:sp>
        <p:nvSpPr>
          <p:cNvPr id="12" name="Text 8"/>
          <p:cNvSpPr txBox="1"/>
          <p:nvPr/>
        </p:nvSpPr>
        <p:spPr>
          <a:xfrm>
            <a:off x="6537887" y="776326"/>
            <a:ext cx="1554626" cy="231343"/>
          </a:xfrm>
          <a:prstGeom prst="rect">
            <a:avLst/>
          </a:prstGeom>
          <a:noFill/>
          <a:ln/>
        </p:spPr>
        <p:txBody>
          <a:bodyPr wrap="square" lIns="0" tIns="0" rIns="0" bIns="0" rtlCol="0" anchor="t"/>
          <a:lstStyle/>
          <a:p>
            <a:pPr indent="0" marL="0">
              <a:buNone/>
            </a:pPr>
            <a:r>
              <a:rPr lang="en-US" sz="1265" b="1" dirty="0">
                <a:solidFill>
                  <a:srgbClr val="2F5BD3"/>
                </a:solidFill>
                <a:latin typeface="Arial" pitchFamily="34" charset="0"/>
                <a:ea typeface="Arial" pitchFamily="34" charset="-122"/>
                <a:cs typeface="Arial" pitchFamily="34" charset="-120"/>
              </a:rPr>
              <a:t>Kagaz</a:t>
            </a:r>
            <a:endParaRPr lang="en-US" sz="1265" dirty="0"/>
          </a:p>
        </p:txBody>
      </p:sp>
      <p:sp>
        <p:nvSpPr>
          <p:cNvPr id="13" name="Text 9"/>
          <p:cNvSpPr txBox="1"/>
          <p:nvPr/>
        </p:nvSpPr>
        <p:spPr>
          <a:xfrm>
            <a:off x="6537887" y="1112825"/>
            <a:ext cx="1554626" cy="273406"/>
          </a:xfrm>
          <a:prstGeom prst="rect">
            <a:avLst/>
          </a:prstGeom>
          <a:noFill/>
          <a:ln/>
        </p:spPr>
        <p:txBody>
          <a:bodyPr wrap="square" lIns="0" tIns="0" rIns="0" bIns="0" rtlCol="0" anchor="t"/>
          <a:lstStyle/>
          <a:p>
            <a:pPr indent="0" marL="0">
              <a:buNone/>
            </a:pPr>
            <a:r>
              <a:rPr lang="en-US" sz="1093" b="1" dirty="0">
                <a:solidFill>
                  <a:srgbClr val="1F2937"/>
                </a:solidFill>
                <a:latin typeface="Arial" pitchFamily="34" charset="0"/>
                <a:ea typeface="Arial" pitchFamily="34" charset="-122"/>
                <a:cs typeface="Arial" pitchFamily="34" charset="-120"/>
              </a:rPr>
              <a:t>New passport</a:t>
            </a:r>
            <a:endParaRPr lang="en-US" sz="1093" dirty="0"/>
          </a:p>
        </p:txBody>
      </p:sp>
      <p:sp>
        <p:nvSpPr>
          <p:cNvPr id="14" name="Text 10"/>
          <p:cNvSpPr txBox="1"/>
          <p:nvPr/>
        </p:nvSpPr>
        <p:spPr>
          <a:xfrm>
            <a:off x="6537887" y="1386230"/>
            <a:ext cx="1554626" cy="210312"/>
          </a:xfrm>
          <a:prstGeom prst="rect">
            <a:avLst/>
          </a:prstGeom>
          <a:noFill/>
          <a:ln/>
        </p:spPr>
        <p:txBody>
          <a:bodyPr wrap="square" lIns="0" tIns="0" rIns="0" bIns="0" rtlCol="0" anchor="t"/>
          <a:lstStyle/>
          <a:p>
            <a:pPr indent="0" marL="0">
              <a:buNone/>
            </a:pPr>
            <a:r>
              <a:rPr lang="en-US" sz="863" dirty="0">
                <a:solidFill>
                  <a:srgbClr val="5E6B7E"/>
                </a:solidFill>
                <a:latin typeface="Arial" pitchFamily="34" charset="0"/>
                <a:ea typeface="Arial" pitchFamily="34" charset="-122"/>
                <a:cs typeface="Arial" pitchFamily="34" charset="-120"/>
              </a:rPr>
              <a:t>5 documents to carry</a:t>
            </a:r>
            <a:endParaRPr lang="en-US" sz="863" dirty="0"/>
          </a:p>
        </p:txBody>
      </p:sp>
      <p:sp>
        <p:nvSpPr>
          <p:cNvPr id="15" name="Shape 11"/>
          <p:cNvSpPr/>
          <p:nvPr/>
        </p:nvSpPr>
        <p:spPr>
          <a:xfrm>
            <a:off x="6537887" y="1764792"/>
            <a:ext cx="231343" cy="231343"/>
          </a:xfrm>
          <a:prstGeom prst="ellipse">
            <a:avLst/>
          </a:prstGeom>
          <a:solidFill>
            <a:srgbClr val="18A06B"/>
          </a:solidFill>
          <a:ln w="12700">
            <a:solidFill>
              <a:srgbClr val="18A06B"/>
            </a:solidFill>
            <a:prstDash val="solid"/>
          </a:ln>
        </p:spPr>
      </p:sp>
      <p:pic>
        <p:nvPicPr>
          <p:cNvPr id="16" name="Image 2" descr="preencoded.png">    </p:cNvPr>
          <p:cNvPicPr>
            <a:picLocks noChangeAspect="1"/>
          </p:cNvPicPr>
          <p:nvPr/>
        </p:nvPicPr>
        <p:blipFill>
          <a:blip r:embed="rId3"/>
          <a:stretch>
            <a:fillRect/>
          </a:stretch>
        </p:blipFill>
        <p:spPr>
          <a:xfrm>
            <a:off x="6593409" y="1820314"/>
            <a:ext cx="120298" cy="120298"/>
          </a:xfrm>
          <a:prstGeom prst="rect">
            <a:avLst/>
          </a:prstGeom>
        </p:spPr>
      </p:pic>
      <p:sp>
        <p:nvSpPr>
          <p:cNvPr id="17" name="Text 12"/>
          <p:cNvSpPr txBox="1"/>
          <p:nvPr/>
        </p:nvSpPr>
        <p:spPr>
          <a:xfrm>
            <a:off x="6874386" y="1743761"/>
            <a:ext cx="1218127" cy="273406"/>
          </a:xfrm>
          <a:prstGeom prst="rect">
            <a:avLst/>
          </a:prstGeom>
          <a:noFill/>
          <a:ln/>
        </p:spPr>
        <p:txBody>
          <a:bodyPr wrap="square" lIns="0" tIns="0" rIns="0" bIns="0" rtlCol="0" anchor="ctr"/>
          <a:lstStyle/>
          <a:p>
            <a:pPr indent="0" marL="0">
              <a:buNone/>
            </a:pPr>
            <a:r>
              <a:rPr lang="en-US" sz="920" dirty="0">
                <a:solidFill>
                  <a:srgbClr val="1F2937"/>
                </a:solidFill>
                <a:latin typeface="Arial" pitchFamily="34" charset="0"/>
                <a:ea typeface="Arial" pitchFamily="34" charset="-122"/>
                <a:cs typeface="Arial" pitchFamily="34" charset="-120"/>
              </a:rPr>
              <a:t>Proof of address</a:t>
            </a:r>
            <a:endParaRPr lang="en-US" sz="920" dirty="0"/>
          </a:p>
        </p:txBody>
      </p:sp>
      <p:sp>
        <p:nvSpPr>
          <p:cNvPr id="18" name="Shape 13"/>
          <p:cNvSpPr/>
          <p:nvPr/>
        </p:nvSpPr>
        <p:spPr>
          <a:xfrm>
            <a:off x="6537887" y="2185416"/>
            <a:ext cx="231343" cy="231343"/>
          </a:xfrm>
          <a:prstGeom prst="ellipse">
            <a:avLst/>
          </a:prstGeom>
          <a:solidFill>
            <a:srgbClr val="18A06B"/>
          </a:solidFill>
          <a:ln w="12700">
            <a:solidFill>
              <a:srgbClr val="18A06B"/>
            </a:solidFill>
            <a:prstDash val="solid"/>
          </a:ln>
        </p:spPr>
      </p:sp>
      <p:pic>
        <p:nvPicPr>
          <p:cNvPr id="19" name="Image 3" descr="preencoded.png">    </p:cNvPr>
          <p:cNvPicPr>
            <a:picLocks noChangeAspect="1"/>
          </p:cNvPicPr>
          <p:nvPr/>
        </p:nvPicPr>
        <p:blipFill>
          <a:blip r:embed="rId4"/>
          <a:stretch>
            <a:fillRect/>
          </a:stretch>
        </p:blipFill>
        <p:spPr>
          <a:xfrm>
            <a:off x="6593409" y="2240938"/>
            <a:ext cx="120298" cy="120298"/>
          </a:xfrm>
          <a:prstGeom prst="rect">
            <a:avLst/>
          </a:prstGeom>
        </p:spPr>
      </p:pic>
      <p:sp>
        <p:nvSpPr>
          <p:cNvPr id="20" name="Text 14"/>
          <p:cNvSpPr txBox="1"/>
          <p:nvPr/>
        </p:nvSpPr>
        <p:spPr>
          <a:xfrm>
            <a:off x="6874386" y="2164385"/>
            <a:ext cx="1218127" cy="273406"/>
          </a:xfrm>
          <a:prstGeom prst="rect">
            <a:avLst/>
          </a:prstGeom>
          <a:noFill/>
          <a:ln/>
        </p:spPr>
        <p:txBody>
          <a:bodyPr wrap="square" lIns="0" tIns="0" rIns="0" bIns="0" rtlCol="0" anchor="ctr"/>
          <a:lstStyle/>
          <a:p>
            <a:pPr indent="0" marL="0">
              <a:buNone/>
            </a:pPr>
            <a:r>
              <a:rPr lang="en-US" sz="920" dirty="0">
                <a:solidFill>
                  <a:srgbClr val="1F2937"/>
                </a:solidFill>
                <a:latin typeface="Arial" pitchFamily="34" charset="0"/>
                <a:ea typeface="Arial" pitchFamily="34" charset="-122"/>
                <a:cs typeface="Arial" pitchFamily="34" charset="-120"/>
              </a:rPr>
              <a:t>Proof of date of birth</a:t>
            </a:r>
            <a:endParaRPr lang="en-US" sz="920" dirty="0"/>
          </a:p>
        </p:txBody>
      </p:sp>
      <p:sp>
        <p:nvSpPr>
          <p:cNvPr id="21" name="Shape 15"/>
          <p:cNvSpPr/>
          <p:nvPr/>
        </p:nvSpPr>
        <p:spPr>
          <a:xfrm>
            <a:off x="6537887" y="2606040"/>
            <a:ext cx="231343" cy="231343"/>
          </a:xfrm>
          <a:prstGeom prst="ellipse">
            <a:avLst/>
          </a:prstGeom>
          <a:solidFill>
            <a:srgbClr val="18A06B"/>
          </a:solidFill>
          <a:ln w="12700">
            <a:solidFill>
              <a:srgbClr val="18A06B"/>
            </a:solidFill>
            <a:prstDash val="solid"/>
          </a:ln>
        </p:spPr>
      </p:sp>
      <p:pic>
        <p:nvPicPr>
          <p:cNvPr id="22" name="Image 4" descr="preencoded.png">    </p:cNvPr>
          <p:cNvPicPr>
            <a:picLocks noChangeAspect="1"/>
          </p:cNvPicPr>
          <p:nvPr/>
        </p:nvPicPr>
        <p:blipFill>
          <a:blip r:embed="rId5"/>
          <a:stretch>
            <a:fillRect/>
          </a:stretch>
        </p:blipFill>
        <p:spPr>
          <a:xfrm>
            <a:off x="6593409" y="2661562"/>
            <a:ext cx="120298" cy="120298"/>
          </a:xfrm>
          <a:prstGeom prst="rect">
            <a:avLst/>
          </a:prstGeom>
        </p:spPr>
      </p:pic>
      <p:sp>
        <p:nvSpPr>
          <p:cNvPr id="23" name="Text 16"/>
          <p:cNvSpPr txBox="1"/>
          <p:nvPr/>
        </p:nvSpPr>
        <p:spPr>
          <a:xfrm>
            <a:off x="6874386" y="2585009"/>
            <a:ext cx="1218127" cy="273406"/>
          </a:xfrm>
          <a:prstGeom prst="rect">
            <a:avLst/>
          </a:prstGeom>
          <a:noFill/>
          <a:ln/>
        </p:spPr>
        <p:txBody>
          <a:bodyPr wrap="square" lIns="0" tIns="0" rIns="0" bIns="0" rtlCol="0" anchor="ctr"/>
          <a:lstStyle/>
          <a:p>
            <a:pPr indent="0" marL="0">
              <a:buNone/>
            </a:pPr>
            <a:r>
              <a:rPr lang="en-US" sz="920" dirty="0">
                <a:solidFill>
                  <a:srgbClr val="1F2937"/>
                </a:solidFill>
                <a:latin typeface="Arial" pitchFamily="34" charset="0"/>
                <a:ea typeface="Arial" pitchFamily="34" charset="-122"/>
                <a:cs typeface="Arial" pitchFamily="34" charset="-120"/>
              </a:rPr>
              <a:t>Aadhaar card</a:t>
            </a:r>
            <a:endParaRPr lang="en-US" sz="920" dirty="0"/>
          </a:p>
        </p:txBody>
      </p:sp>
      <p:sp>
        <p:nvSpPr>
          <p:cNvPr id="24" name="Shape 17"/>
          <p:cNvSpPr/>
          <p:nvPr/>
        </p:nvSpPr>
        <p:spPr>
          <a:xfrm>
            <a:off x="6537887" y="3026664"/>
            <a:ext cx="231343" cy="231343"/>
          </a:xfrm>
          <a:prstGeom prst="ellipse">
            <a:avLst/>
          </a:prstGeom>
          <a:solidFill>
            <a:srgbClr val="18A06B"/>
          </a:solidFill>
          <a:ln w="12700">
            <a:solidFill>
              <a:srgbClr val="18A06B"/>
            </a:solidFill>
            <a:prstDash val="solid"/>
          </a:ln>
        </p:spPr>
      </p:sp>
      <p:pic>
        <p:nvPicPr>
          <p:cNvPr id="25" name="Image 5" descr="preencoded.png">    </p:cNvPr>
          <p:cNvPicPr>
            <a:picLocks noChangeAspect="1"/>
          </p:cNvPicPr>
          <p:nvPr/>
        </p:nvPicPr>
        <p:blipFill>
          <a:blip r:embed="rId6"/>
          <a:stretch>
            <a:fillRect/>
          </a:stretch>
        </p:blipFill>
        <p:spPr>
          <a:xfrm>
            <a:off x="6593409" y="3082186"/>
            <a:ext cx="120298" cy="120298"/>
          </a:xfrm>
          <a:prstGeom prst="rect">
            <a:avLst/>
          </a:prstGeom>
        </p:spPr>
      </p:pic>
      <p:sp>
        <p:nvSpPr>
          <p:cNvPr id="26" name="Text 18"/>
          <p:cNvSpPr txBox="1"/>
          <p:nvPr/>
        </p:nvSpPr>
        <p:spPr>
          <a:xfrm>
            <a:off x="6874386" y="3005633"/>
            <a:ext cx="1218127" cy="273406"/>
          </a:xfrm>
          <a:prstGeom prst="rect">
            <a:avLst/>
          </a:prstGeom>
          <a:noFill/>
          <a:ln/>
        </p:spPr>
        <p:txBody>
          <a:bodyPr wrap="square" lIns="0" tIns="0" rIns="0" bIns="0" rtlCol="0" anchor="ctr"/>
          <a:lstStyle/>
          <a:p>
            <a:pPr indent="0" marL="0">
              <a:buNone/>
            </a:pPr>
            <a:r>
              <a:rPr lang="en-US" sz="920" dirty="0">
                <a:solidFill>
                  <a:srgbClr val="1F2937"/>
                </a:solidFill>
                <a:latin typeface="Arial" pitchFamily="34" charset="0"/>
                <a:ea typeface="Arial" pitchFamily="34" charset="-122"/>
                <a:cs typeface="Arial" pitchFamily="34" charset="-120"/>
              </a:rPr>
              <a:t>Old passport, if any</a:t>
            </a:r>
            <a:endParaRPr lang="en-US" sz="920" dirty="0"/>
          </a:p>
        </p:txBody>
      </p:sp>
      <p:sp>
        <p:nvSpPr>
          <p:cNvPr id="27" name="Shape 19"/>
          <p:cNvSpPr/>
          <p:nvPr/>
        </p:nvSpPr>
        <p:spPr>
          <a:xfrm>
            <a:off x="6537887" y="3447288"/>
            <a:ext cx="231343" cy="231343"/>
          </a:xfrm>
          <a:prstGeom prst="ellipse">
            <a:avLst/>
          </a:prstGeom>
          <a:solidFill>
            <a:srgbClr val="18A06B"/>
          </a:solidFill>
          <a:ln w="12700">
            <a:solidFill>
              <a:srgbClr val="18A06B"/>
            </a:solidFill>
            <a:prstDash val="solid"/>
          </a:ln>
        </p:spPr>
      </p:sp>
      <p:pic>
        <p:nvPicPr>
          <p:cNvPr id="28" name="Image 6" descr="preencoded.png">    </p:cNvPr>
          <p:cNvPicPr>
            <a:picLocks noChangeAspect="1"/>
          </p:cNvPicPr>
          <p:nvPr/>
        </p:nvPicPr>
        <p:blipFill>
          <a:blip r:embed="rId7"/>
          <a:stretch>
            <a:fillRect/>
          </a:stretch>
        </p:blipFill>
        <p:spPr>
          <a:xfrm>
            <a:off x="6593409" y="3502810"/>
            <a:ext cx="120298" cy="120298"/>
          </a:xfrm>
          <a:prstGeom prst="rect">
            <a:avLst/>
          </a:prstGeom>
        </p:spPr>
      </p:pic>
      <p:sp>
        <p:nvSpPr>
          <p:cNvPr id="29" name="Text 20"/>
          <p:cNvSpPr txBox="1"/>
          <p:nvPr/>
        </p:nvSpPr>
        <p:spPr>
          <a:xfrm>
            <a:off x="6874386" y="3426257"/>
            <a:ext cx="1218127" cy="273406"/>
          </a:xfrm>
          <a:prstGeom prst="rect">
            <a:avLst/>
          </a:prstGeom>
          <a:noFill/>
          <a:ln/>
        </p:spPr>
        <p:txBody>
          <a:bodyPr wrap="square" lIns="0" tIns="0" rIns="0" bIns="0" rtlCol="0" anchor="ctr"/>
          <a:lstStyle/>
          <a:p>
            <a:pPr indent="0" marL="0">
              <a:buNone/>
            </a:pPr>
            <a:r>
              <a:rPr lang="en-US" sz="920" dirty="0">
                <a:solidFill>
                  <a:srgbClr val="1F2937"/>
                </a:solidFill>
                <a:latin typeface="Arial" pitchFamily="34" charset="0"/>
                <a:ea typeface="Arial" pitchFamily="34" charset="-122"/>
                <a:cs typeface="Arial" pitchFamily="34" charset="-120"/>
              </a:rPr>
              <a:t>Appointment slip</a:t>
            </a:r>
            <a:endParaRPr lang="en-US" sz="920" dirty="0"/>
          </a:p>
        </p:txBody>
      </p:sp>
      <p:sp>
        <p:nvSpPr>
          <p:cNvPr id="30" name="Shape 21"/>
          <p:cNvSpPr/>
          <p:nvPr/>
        </p:nvSpPr>
        <p:spPr>
          <a:xfrm>
            <a:off x="6537887" y="3885286"/>
            <a:ext cx="1554626" cy="378562"/>
          </a:xfrm>
          <a:prstGeom prst="roundRect">
            <a:avLst>
              <a:gd name="adj" fmla="val 50000"/>
            </a:avLst>
          </a:prstGeom>
          <a:solidFill>
            <a:srgbClr val="18A06B"/>
          </a:solidFill>
          <a:ln w="12700">
            <a:solidFill>
              <a:srgbClr val="18A06B"/>
            </a:solidFill>
            <a:prstDash val="solid"/>
          </a:ln>
        </p:spPr>
      </p:sp>
      <p:sp>
        <p:nvSpPr>
          <p:cNvPr id="31" name="Text 22"/>
          <p:cNvSpPr txBox="1"/>
          <p:nvPr/>
        </p:nvSpPr>
        <p:spPr>
          <a:xfrm>
            <a:off x="6537887" y="3885286"/>
            <a:ext cx="1554626" cy="378562"/>
          </a:xfrm>
          <a:prstGeom prst="rect">
            <a:avLst/>
          </a:prstGeom>
          <a:noFill/>
          <a:ln/>
        </p:spPr>
        <p:txBody>
          <a:bodyPr wrap="square" lIns="0" tIns="0" rIns="0" bIns="0" rtlCol="0" anchor="ctr"/>
          <a:lstStyle/>
          <a:p>
            <a:pPr algn="ctr" indent="0" marL="0">
              <a:buNone/>
            </a:pPr>
            <a:r>
              <a:rPr lang="en-US" sz="977" b="1" dirty="0">
                <a:solidFill>
                  <a:srgbClr val="FFFFFF"/>
                </a:solidFill>
                <a:latin typeface="Arial" pitchFamily="34" charset="0"/>
                <a:ea typeface="Arial" pitchFamily="34" charset="-122"/>
                <a:cs typeface="Arial" pitchFamily="34" charset="-120"/>
              </a:rPr>
              <a:t>Share on WhatsApp</a:t>
            </a:r>
            <a:endParaRPr lang="en-US" sz="977" dirty="0"/>
          </a:p>
        </p:txBody>
      </p:sp>
      <p:sp>
        <p:nvSpPr>
          <p:cNvPr id="32" name="Text 23"/>
          <p:cNvSpPr txBox="1"/>
          <p:nvPr/>
        </p:nvSpPr>
        <p:spPr>
          <a:xfrm>
            <a:off x="6537887" y="4295394"/>
            <a:ext cx="1554626" cy="168250"/>
          </a:xfrm>
          <a:prstGeom prst="rect">
            <a:avLst/>
          </a:prstGeom>
          <a:noFill/>
          <a:ln/>
        </p:spPr>
        <p:txBody>
          <a:bodyPr wrap="square" lIns="0" tIns="0" rIns="0" bIns="0" rtlCol="0" anchor="t"/>
          <a:lstStyle/>
          <a:p>
            <a:pPr algn="ctr" indent="0" marL="0">
              <a:buNone/>
            </a:pPr>
            <a:r>
              <a:rPr lang="en-US" sz="690" dirty="0">
                <a:solidFill>
                  <a:srgbClr val="5E6B7E"/>
                </a:solidFill>
                <a:latin typeface="Arial" pitchFamily="34" charset="0"/>
                <a:ea typeface="Arial" pitchFamily="34" charset="-122"/>
                <a:cs typeface="Arial" pitchFamily="34" charset="-120"/>
              </a:rPr>
              <a:t>Sample data</a:t>
            </a:r>
            <a:endParaRPr lang="en-US" sz="69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640080"/>
          </a:xfrm>
          <a:prstGeom prst="rect">
            <a:avLst/>
          </a:prstGeom>
          <a:noFill/>
          <a:ln/>
        </p:spPr>
        <p:txBody>
          <a:bodyPr wrap="square" lIns="0" tIns="0" rIns="0" bIns="0" rtlCol="0" anchor="t"/>
          <a:lstStyle/>
          <a:p>
            <a:pPr indent="0" marL="0">
              <a:buNone/>
            </a:pPr>
            <a:r>
              <a:rPr lang="en-US" sz="3000" b="1" dirty="0">
                <a:solidFill>
                  <a:srgbClr val="14213D"/>
                </a:solidFill>
                <a:latin typeface="Arial" pitchFamily="34" charset="0"/>
                <a:ea typeface="Arial" pitchFamily="34" charset="-122"/>
                <a:cs typeface="Arial" pitchFamily="34" charset="-120"/>
              </a:rPr>
              <a:t>One missing photocopy costs half a day</a:t>
            </a:r>
            <a:endParaRPr lang="en-US" sz="3000" dirty="0"/>
          </a:p>
        </p:txBody>
      </p:sp>
      <p:sp>
        <p:nvSpPr>
          <p:cNvPr id="3" name="Shape 1"/>
          <p:cNvSpPr/>
          <p:nvPr/>
        </p:nvSpPr>
        <p:spPr>
          <a:xfrm>
            <a:off x="548640" y="1325880"/>
            <a:ext cx="4480560" cy="3246120"/>
          </a:xfrm>
          <a:prstGeom prst="roundRect">
            <a:avLst>
              <a:gd name="adj" fmla="val 4225"/>
            </a:avLst>
          </a:prstGeom>
          <a:solidFill>
            <a:srgbClr val="EEF2FA"/>
          </a:solidFill>
          <a:ln w="12700">
            <a:solidFill>
              <a:srgbClr val="EEF2FA"/>
            </a:solidFill>
            <a:prstDash val="solid"/>
          </a:ln>
        </p:spPr>
      </p:sp>
      <p:pic>
        <p:nvPicPr>
          <p:cNvPr id="4" name="Image 0" descr="preencoded.png">    </p:cNvPr>
          <p:cNvPicPr>
            <a:picLocks noChangeAspect="1"/>
          </p:cNvPicPr>
          <p:nvPr/>
        </p:nvPicPr>
        <p:blipFill>
          <a:blip r:embed="rId1"/>
          <a:stretch>
            <a:fillRect/>
          </a:stretch>
        </p:blipFill>
        <p:spPr>
          <a:xfrm>
            <a:off x="868680" y="1645920"/>
            <a:ext cx="457200" cy="457200"/>
          </a:xfrm>
          <a:prstGeom prst="rect">
            <a:avLst/>
          </a:prstGeom>
        </p:spPr>
      </p:pic>
      <p:sp>
        <p:nvSpPr>
          <p:cNvPr id="5" name="Text 2"/>
          <p:cNvSpPr txBox="1"/>
          <p:nvPr/>
        </p:nvSpPr>
        <p:spPr>
          <a:xfrm>
            <a:off x="868680" y="2286000"/>
            <a:ext cx="3886200" cy="1463040"/>
          </a:xfrm>
          <a:prstGeom prst="rect">
            <a:avLst/>
          </a:prstGeom>
          <a:noFill/>
          <a:ln/>
        </p:spPr>
        <p:txBody>
          <a:bodyPr wrap="square" lIns="0" tIns="0" rIns="0" bIns="0" rtlCol="0" anchor="t"/>
          <a:lstStyle/>
          <a:p>
            <a:pPr indent="0" marL="0">
              <a:buNone/>
            </a:pPr>
            <a:r>
              <a:rPr lang="en-US" sz="1900" i="1" dirty="0">
                <a:solidFill>
                  <a:srgbClr val="1F2937"/>
                </a:solidFill>
                <a:latin typeface="Arial" pitchFamily="34" charset="0"/>
                <a:ea typeface="Arial" pitchFamily="34" charset="-122"/>
                <a:cs typeface="Arial" pitchFamily="34" charset="-120"/>
              </a:rPr>
              <a:t>I took half a day off work, queued for two hours, and was sent home for one missing photocopy.</a:t>
            </a:r>
            <a:endParaRPr lang="en-US" sz="1900" dirty="0"/>
          </a:p>
        </p:txBody>
      </p:sp>
      <p:sp>
        <p:nvSpPr>
          <p:cNvPr id="6" name="Text 3"/>
          <p:cNvSpPr txBox="1"/>
          <p:nvPr/>
        </p:nvSpPr>
        <p:spPr>
          <a:xfrm>
            <a:off x="868680" y="3931920"/>
            <a:ext cx="3886200" cy="274320"/>
          </a:xfrm>
          <a:prstGeom prst="rect">
            <a:avLst/>
          </a:prstGeom>
          <a:noFill/>
          <a:ln/>
        </p:spPr>
        <p:txBody>
          <a:bodyPr wrap="square" lIns="0" tIns="0" rIns="0" bIns="0" rtlCol="0" anchor="t"/>
          <a:lstStyle/>
          <a:p>
            <a:pPr indent="0" marL="0">
              <a:buNone/>
            </a:pPr>
            <a:r>
              <a:rPr lang="en-US" sz="1200" b="1" dirty="0">
                <a:solidFill>
                  <a:srgbClr val="5E6B7E"/>
                </a:solidFill>
                <a:latin typeface="Arial" pitchFamily="34" charset="0"/>
                <a:ea typeface="Arial" pitchFamily="34" charset="-122"/>
                <a:cs typeface="Arial" pitchFamily="34" charset="-120"/>
              </a:rPr>
              <a:t>Suresh, 52, applying for an income certificate</a:t>
            </a:r>
            <a:endParaRPr lang="en-US" sz="1200" dirty="0"/>
          </a:p>
        </p:txBody>
      </p:sp>
      <p:sp>
        <p:nvSpPr>
          <p:cNvPr id="7" name="Shape 4"/>
          <p:cNvSpPr/>
          <p:nvPr/>
        </p:nvSpPr>
        <p:spPr>
          <a:xfrm>
            <a:off x="5440680" y="1481328"/>
            <a:ext cx="502920" cy="502920"/>
          </a:xfrm>
          <a:prstGeom prst="ellipse">
            <a:avLst/>
          </a:prstGeom>
          <a:solidFill>
            <a:srgbClr val="F0A43A"/>
          </a:solidFill>
          <a:ln w="12700">
            <a:solidFill>
              <a:srgbClr val="F0A43A"/>
            </a:solidFill>
            <a:prstDash val="solid"/>
          </a:ln>
        </p:spPr>
      </p:sp>
      <p:pic>
        <p:nvPicPr>
          <p:cNvPr id="8" name="Image 1" descr="preencoded.png">    </p:cNvPr>
          <p:cNvPicPr>
            <a:picLocks noChangeAspect="1"/>
          </p:cNvPicPr>
          <p:nvPr/>
        </p:nvPicPr>
        <p:blipFill>
          <a:blip r:embed="rId2"/>
          <a:stretch>
            <a:fillRect/>
          </a:stretch>
        </p:blipFill>
        <p:spPr>
          <a:xfrm>
            <a:off x="5571439" y="1612087"/>
            <a:ext cx="241402" cy="241402"/>
          </a:xfrm>
          <a:prstGeom prst="rect">
            <a:avLst/>
          </a:prstGeom>
        </p:spPr>
      </p:pic>
      <p:sp>
        <p:nvSpPr>
          <p:cNvPr id="9" name="Text 5"/>
          <p:cNvSpPr txBox="1"/>
          <p:nvPr/>
        </p:nvSpPr>
        <p:spPr>
          <a:xfrm>
            <a:off x="6126480" y="1371600"/>
            <a:ext cx="2560320" cy="731520"/>
          </a:xfrm>
          <a:prstGeom prst="rect">
            <a:avLst/>
          </a:prstGeom>
          <a:noFill/>
          <a:ln/>
        </p:spPr>
        <p:txBody>
          <a:bodyPr wrap="square" lIns="0" tIns="0" rIns="0" bIns="0" rtlCol="0" anchor="t"/>
          <a:lstStyle/>
          <a:p>
            <a:pPr indent="0" marL="0">
              <a:buNone/>
            </a:pPr>
            <a:r>
              <a:rPr lang="en-US" sz="4400" b="1" dirty="0">
                <a:solidFill>
                  <a:srgbClr val="14213D"/>
                </a:solidFill>
                <a:latin typeface="Arial" pitchFamily="34" charset="0"/>
                <a:ea typeface="Arial" pitchFamily="34" charset="-122"/>
                <a:cs typeface="Arial" pitchFamily="34" charset="-120"/>
              </a:rPr>
              <a:t>9 of 12</a:t>
            </a:r>
            <a:endParaRPr lang="en-US" sz="4400" dirty="0"/>
          </a:p>
        </p:txBody>
      </p:sp>
      <p:sp>
        <p:nvSpPr>
          <p:cNvPr id="10" name="Text 6"/>
          <p:cNvSpPr txBox="1"/>
          <p:nvPr/>
        </p:nvSpPr>
        <p:spPr>
          <a:xfrm>
            <a:off x="6126480" y="2121408"/>
            <a:ext cx="2514600" cy="685800"/>
          </a:xfrm>
          <a:prstGeom prst="rect">
            <a:avLst/>
          </a:prstGeom>
          <a:noFill/>
          <a:ln/>
        </p:spPr>
        <p:txBody>
          <a:bodyPr wrap="square" lIns="0" tIns="0" rIns="0" bIns="0" rtlCol="0" anchor="t"/>
          <a:lstStyle/>
          <a:p>
            <a:pPr indent="0" marL="0">
              <a:buNone/>
            </a:pPr>
            <a:r>
              <a:rPr lang="en-US" sz="1200" dirty="0">
                <a:solidFill>
                  <a:srgbClr val="5E6B7E"/>
                </a:solidFill>
                <a:latin typeface="Arial" pitchFamily="34" charset="0"/>
                <a:ea typeface="Arial" pitchFamily="34" charset="-122"/>
                <a:cs typeface="Arial" pitchFamily="34" charset="-120"/>
              </a:rPr>
              <a:t>people we asked had made at least one wasted trip to a government office</a:t>
            </a:r>
            <a:endParaRPr lang="en-US" sz="1200" dirty="0"/>
          </a:p>
        </p:txBody>
      </p:sp>
      <p:sp>
        <p:nvSpPr>
          <p:cNvPr id="11" name="Shape 7"/>
          <p:cNvSpPr/>
          <p:nvPr/>
        </p:nvSpPr>
        <p:spPr>
          <a:xfrm>
            <a:off x="5440680" y="3127248"/>
            <a:ext cx="502920" cy="502920"/>
          </a:xfrm>
          <a:prstGeom prst="ellipse">
            <a:avLst/>
          </a:prstGeom>
          <a:solidFill>
            <a:srgbClr val="F0A43A"/>
          </a:solidFill>
          <a:ln w="12700">
            <a:solidFill>
              <a:srgbClr val="F0A43A"/>
            </a:solidFill>
            <a:prstDash val="solid"/>
          </a:ln>
        </p:spPr>
      </p:sp>
      <p:pic>
        <p:nvPicPr>
          <p:cNvPr id="12" name="Image 2" descr="preencoded.png">    </p:cNvPr>
          <p:cNvPicPr>
            <a:picLocks noChangeAspect="1"/>
          </p:cNvPicPr>
          <p:nvPr/>
        </p:nvPicPr>
        <p:blipFill>
          <a:blip r:embed="rId3"/>
          <a:stretch>
            <a:fillRect/>
          </a:stretch>
        </p:blipFill>
        <p:spPr>
          <a:xfrm>
            <a:off x="5571439" y="3258007"/>
            <a:ext cx="241402" cy="241402"/>
          </a:xfrm>
          <a:prstGeom prst="rect">
            <a:avLst/>
          </a:prstGeom>
        </p:spPr>
      </p:pic>
      <p:sp>
        <p:nvSpPr>
          <p:cNvPr id="13" name="Text 8"/>
          <p:cNvSpPr txBox="1"/>
          <p:nvPr/>
        </p:nvSpPr>
        <p:spPr>
          <a:xfrm>
            <a:off x="6126480" y="3017520"/>
            <a:ext cx="2560320" cy="731520"/>
          </a:xfrm>
          <a:prstGeom prst="rect">
            <a:avLst/>
          </a:prstGeom>
          <a:noFill/>
          <a:ln/>
        </p:spPr>
        <p:txBody>
          <a:bodyPr wrap="square" lIns="0" tIns="0" rIns="0" bIns="0" rtlCol="0" anchor="t"/>
          <a:lstStyle/>
          <a:p>
            <a:pPr indent="0" marL="0">
              <a:buNone/>
            </a:pPr>
            <a:r>
              <a:rPr lang="en-US" sz="4400" b="1" dirty="0">
                <a:solidFill>
                  <a:srgbClr val="14213D"/>
                </a:solidFill>
                <a:latin typeface="Arial" pitchFamily="34" charset="0"/>
                <a:ea typeface="Arial" pitchFamily="34" charset="-122"/>
                <a:cs typeface="Arial" pitchFamily="34" charset="-120"/>
              </a:rPr>
              <a:t>3 hours</a:t>
            </a:r>
            <a:endParaRPr lang="en-US" sz="4400" dirty="0"/>
          </a:p>
        </p:txBody>
      </p:sp>
      <p:sp>
        <p:nvSpPr>
          <p:cNvPr id="14" name="Text 9"/>
          <p:cNvSpPr txBox="1"/>
          <p:nvPr/>
        </p:nvSpPr>
        <p:spPr>
          <a:xfrm>
            <a:off x="6126480" y="3767328"/>
            <a:ext cx="2514600" cy="685800"/>
          </a:xfrm>
          <a:prstGeom prst="rect">
            <a:avLst/>
          </a:prstGeom>
          <a:noFill/>
          <a:ln/>
        </p:spPr>
        <p:txBody>
          <a:bodyPr wrap="square" lIns="0" tIns="0" rIns="0" bIns="0" rtlCol="0" anchor="t"/>
          <a:lstStyle/>
          <a:p>
            <a:pPr indent="0" marL="0">
              <a:buNone/>
            </a:pPr>
            <a:r>
              <a:rPr lang="en-US" sz="1200" dirty="0">
                <a:solidFill>
                  <a:srgbClr val="5E6B7E"/>
                </a:solidFill>
                <a:latin typeface="Arial" pitchFamily="34" charset="0"/>
                <a:ea typeface="Arial" pitchFamily="34" charset="-122"/>
                <a:cs typeface="Arial" pitchFamily="34" charset="-120"/>
              </a:rPr>
              <a:t>lost per wasted trip on average, before travel costs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57200"/>
            <a:ext cx="5120640" cy="1005840"/>
          </a:xfrm>
          <a:prstGeom prst="rect">
            <a:avLst/>
          </a:prstGeom>
          <a:noFill/>
          <a:ln/>
        </p:spPr>
        <p:txBody>
          <a:bodyPr wrap="square" lIns="0" tIns="0" rIns="0" bIns="0" rtlCol="0" anchor="t"/>
          <a:lstStyle/>
          <a:p>
            <a:pPr indent="0" marL="0">
              <a:buNone/>
            </a:pPr>
            <a:r>
              <a:rPr lang="en-US" sz="2800" b="1" dirty="0">
                <a:solidFill>
                  <a:srgbClr val="14213D"/>
                </a:solidFill>
                <a:latin typeface="Arial" pitchFamily="34" charset="0"/>
                <a:ea typeface="Arial" pitchFamily="34" charset="-122"/>
                <a:cs typeface="Arial" pitchFamily="34" charset="-120"/>
              </a:rPr>
              <a:t>Three questions. One checklist. No wasted trip.</a:t>
            </a:r>
            <a:endParaRPr lang="en-US" sz="2800" dirty="0"/>
          </a:p>
        </p:txBody>
      </p:sp>
      <p:sp>
        <p:nvSpPr>
          <p:cNvPr id="3" name="Text 1"/>
          <p:cNvSpPr txBox="1"/>
          <p:nvPr/>
        </p:nvSpPr>
        <p:spPr>
          <a:xfrm>
            <a:off x="548640" y="1645920"/>
            <a:ext cx="4846320" cy="914400"/>
          </a:xfrm>
          <a:prstGeom prst="rect">
            <a:avLst/>
          </a:prstGeom>
          <a:noFill/>
          <a:ln/>
        </p:spPr>
        <p:txBody>
          <a:bodyPr wrap="square" lIns="0" tIns="0" rIns="0" bIns="0" rtlCol="0" anchor="t"/>
          <a:lstStyle/>
          <a:p>
            <a:pPr indent="0" marL="0">
              <a:buNone/>
            </a:pPr>
            <a:r>
              <a:rPr lang="en-US" sz="1500" dirty="0">
                <a:solidFill>
                  <a:srgbClr val="1F2937"/>
                </a:solidFill>
                <a:latin typeface="Arial" pitchFamily="34" charset="0"/>
                <a:ea typeface="Arial" pitchFamily="34" charset="-122"/>
                <a:cs typeface="Arial" pitchFamily="34" charset="-120"/>
              </a:rPr>
              <a:t>Kagaz asks what you are applying for and a few questions about your case, then shows exactly which documents to bring, with a tip for each one.</a:t>
            </a:r>
            <a:endParaRPr lang="en-US" sz="1500" dirty="0"/>
          </a:p>
        </p:txBody>
      </p:sp>
      <p:sp>
        <p:nvSpPr>
          <p:cNvPr id="4" name="Shape 2"/>
          <p:cNvSpPr/>
          <p:nvPr/>
        </p:nvSpPr>
        <p:spPr>
          <a:xfrm>
            <a:off x="548640" y="2788920"/>
            <a:ext cx="365760" cy="365760"/>
          </a:xfrm>
          <a:prstGeom prst="ellipse">
            <a:avLst/>
          </a:prstGeom>
          <a:solidFill>
            <a:srgbClr val="18A06B"/>
          </a:solidFill>
          <a:ln w="12700">
            <a:solidFill>
              <a:srgbClr val="18A06B"/>
            </a:solidFill>
            <a:prstDash val="solid"/>
          </a:ln>
        </p:spPr>
      </p:sp>
      <p:pic>
        <p:nvPicPr>
          <p:cNvPr id="5" name="Image 0" descr="preencoded.png">    </p:cNvPr>
          <p:cNvPicPr>
            <a:picLocks noChangeAspect="1"/>
          </p:cNvPicPr>
          <p:nvPr/>
        </p:nvPicPr>
        <p:blipFill>
          <a:blip r:embed="rId1"/>
          <a:stretch>
            <a:fillRect/>
          </a:stretch>
        </p:blipFill>
        <p:spPr>
          <a:xfrm>
            <a:off x="640080" y="2880360"/>
            <a:ext cx="182880" cy="182880"/>
          </a:xfrm>
          <a:prstGeom prst="rect">
            <a:avLst/>
          </a:prstGeom>
        </p:spPr>
      </p:pic>
      <p:sp>
        <p:nvSpPr>
          <p:cNvPr id="6" name="Text 3"/>
          <p:cNvSpPr txBox="1"/>
          <p:nvPr/>
        </p:nvSpPr>
        <p:spPr>
          <a:xfrm>
            <a:off x="1097280" y="2788920"/>
            <a:ext cx="4389120" cy="365760"/>
          </a:xfrm>
          <a:prstGeom prst="rect">
            <a:avLst/>
          </a:prstGeom>
          <a:noFill/>
          <a:ln/>
        </p:spPr>
        <p:txBody>
          <a:bodyPr wrap="square" lIns="0" tIns="0" rIns="0" bIns="0" rtlCol="0" anchor="ctr"/>
          <a:lstStyle/>
          <a:p>
            <a:pPr indent="0" marL="0">
              <a:buNone/>
            </a:pPr>
            <a:r>
              <a:rPr lang="en-US" sz="1400" dirty="0">
                <a:solidFill>
                  <a:srgbClr val="1F2937"/>
                </a:solidFill>
                <a:latin typeface="Arial" pitchFamily="34" charset="0"/>
                <a:ea typeface="Arial" pitchFamily="34" charset="-122"/>
                <a:cs typeface="Arial" pitchFamily="34" charset="-120"/>
              </a:rPr>
              <a:t>Works on any phone, with nothing to install</a:t>
            </a:r>
            <a:endParaRPr lang="en-US" sz="1400" dirty="0"/>
          </a:p>
        </p:txBody>
      </p:sp>
      <p:sp>
        <p:nvSpPr>
          <p:cNvPr id="7" name="Shape 4"/>
          <p:cNvSpPr/>
          <p:nvPr/>
        </p:nvSpPr>
        <p:spPr>
          <a:xfrm>
            <a:off x="548640" y="3355848"/>
            <a:ext cx="365760" cy="365760"/>
          </a:xfrm>
          <a:prstGeom prst="ellipse">
            <a:avLst/>
          </a:prstGeom>
          <a:solidFill>
            <a:srgbClr val="18A06B"/>
          </a:solidFill>
          <a:ln w="12700">
            <a:solidFill>
              <a:srgbClr val="18A06B"/>
            </a:solidFill>
            <a:prstDash val="solid"/>
          </a:ln>
        </p:spPr>
      </p:sp>
      <p:pic>
        <p:nvPicPr>
          <p:cNvPr id="8" name="Image 1" descr="preencoded.png">    </p:cNvPr>
          <p:cNvPicPr>
            <a:picLocks noChangeAspect="1"/>
          </p:cNvPicPr>
          <p:nvPr/>
        </p:nvPicPr>
        <p:blipFill>
          <a:blip r:embed="rId2"/>
          <a:stretch>
            <a:fillRect/>
          </a:stretch>
        </p:blipFill>
        <p:spPr>
          <a:xfrm>
            <a:off x="640080" y="3447288"/>
            <a:ext cx="182880" cy="182880"/>
          </a:xfrm>
          <a:prstGeom prst="rect">
            <a:avLst/>
          </a:prstGeom>
        </p:spPr>
      </p:pic>
      <p:sp>
        <p:nvSpPr>
          <p:cNvPr id="9" name="Text 5"/>
          <p:cNvSpPr txBox="1"/>
          <p:nvPr/>
        </p:nvSpPr>
        <p:spPr>
          <a:xfrm>
            <a:off x="1097280" y="3355848"/>
            <a:ext cx="4389120" cy="365760"/>
          </a:xfrm>
          <a:prstGeom prst="rect">
            <a:avLst/>
          </a:prstGeom>
          <a:noFill/>
          <a:ln/>
        </p:spPr>
        <p:txBody>
          <a:bodyPr wrap="square" lIns="0" tIns="0" rIns="0" bIns="0" rtlCol="0" anchor="ctr"/>
          <a:lstStyle/>
          <a:p>
            <a:pPr indent="0" marL="0">
              <a:buNone/>
            </a:pPr>
            <a:r>
              <a:rPr lang="en-US" sz="1400" dirty="0">
                <a:solidFill>
                  <a:srgbClr val="1F2937"/>
                </a:solidFill>
                <a:latin typeface="Arial" pitchFamily="34" charset="0"/>
                <a:ea typeface="Arial" pitchFamily="34" charset="-122"/>
                <a:cs typeface="Arial" pitchFamily="34" charset="-120"/>
              </a:rPr>
              <a:t>The checklist for your exact case, not a generic list</a:t>
            </a:r>
            <a:endParaRPr lang="en-US" sz="1400" dirty="0"/>
          </a:p>
        </p:txBody>
      </p:sp>
      <p:sp>
        <p:nvSpPr>
          <p:cNvPr id="10" name="Shape 6"/>
          <p:cNvSpPr/>
          <p:nvPr/>
        </p:nvSpPr>
        <p:spPr>
          <a:xfrm>
            <a:off x="548640" y="3922776"/>
            <a:ext cx="365760" cy="365760"/>
          </a:xfrm>
          <a:prstGeom prst="ellipse">
            <a:avLst/>
          </a:prstGeom>
          <a:solidFill>
            <a:srgbClr val="18A06B"/>
          </a:solidFill>
          <a:ln w="12700">
            <a:solidFill>
              <a:srgbClr val="18A06B"/>
            </a:solidFill>
            <a:prstDash val="solid"/>
          </a:ln>
        </p:spPr>
      </p:sp>
      <p:pic>
        <p:nvPicPr>
          <p:cNvPr id="11" name="Image 2" descr="preencoded.png">    </p:cNvPr>
          <p:cNvPicPr>
            <a:picLocks noChangeAspect="1"/>
          </p:cNvPicPr>
          <p:nvPr/>
        </p:nvPicPr>
        <p:blipFill>
          <a:blip r:embed="rId3"/>
          <a:stretch>
            <a:fillRect/>
          </a:stretch>
        </p:blipFill>
        <p:spPr>
          <a:xfrm>
            <a:off x="640080" y="4014216"/>
            <a:ext cx="182880" cy="182880"/>
          </a:xfrm>
          <a:prstGeom prst="rect">
            <a:avLst/>
          </a:prstGeom>
        </p:spPr>
      </p:pic>
      <p:sp>
        <p:nvSpPr>
          <p:cNvPr id="12" name="Text 7"/>
          <p:cNvSpPr txBox="1"/>
          <p:nvPr/>
        </p:nvSpPr>
        <p:spPr>
          <a:xfrm>
            <a:off x="1097280" y="3922776"/>
            <a:ext cx="4389120" cy="365760"/>
          </a:xfrm>
          <a:prstGeom prst="rect">
            <a:avLst/>
          </a:prstGeom>
          <a:noFill/>
          <a:ln/>
        </p:spPr>
        <p:txBody>
          <a:bodyPr wrap="square" lIns="0" tIns="0" rIns="0" bIns="0" rtlCol="0" anchor="ctr"/>
          <a:lstStyle/>
          <a:p>
            <a:pPr indent="0" marL="0">
              <a:buNone/>
            </a:pPr>
            <a:r>
              <a:rPr lang="en-US" sz="1400" dirty="0">
                <a:solidFill>
                  <a:srgbClr val="1F2937"/>
                </a:solidFill>
                <a:latin typeface="Arial" pitchFamily="34" charset="0"/>
                <a:ea typeface="Arial" pitchFamily="34" charset="-122"/>
                <a:cs typeface="Arial" pitchFamily="34" charset="-120"/>
              </a:rPr>
              <a:t>One tap to share it with family on WhatsApp</a:t>
            </a:r>
            <a:endParaRPr lang="en-US" sz="1400" dirty="0"/>
          </a:p>
        </p:txBody>
      </p:sp>
      <p:sp>
        <p:nvSpPr>
          <p:cNvPr id="13" name="Shape 8"/>
          <p:cNvSpPr/>
          <p:nvPr/>
        </p:nvSpPr>
        <p:spPr>
          <a:xfrm>
            <a:off x="6263640" y="411480"/>
            <a:ext cx="2103120" cy="4297680"/>
          </a:xfrm>
          <a:prstGeom prst="roundRect">
            <a:avLst>
              <a:gd name="adj" fmla="val 14000"/>
            </a:avLst>
          </a:prstGeom>
          <a:solidFill>
            <a:srgbClr val="0B1224"/>
          </a:solidFill>
          <a:ln w="12700">
            <a:solidFill>
              <a:srgbClr val="3B4B70"/>
            </a:solidFill>
            <a:prstDash val="solid"/>
          </a:ln>
        </p:spPr>
      </p:sp>
      <p:sp>
        <p:nvSpPr>
          <p:cNvPr id="14" name="Shape 9"/>
          <p:cNvSpPr/>
          <p:nvPr/>
        </p:nvSpPr>
        <p:spPr>
          <a:xfrm>
            <a:off x="6389827" y="537667"/>
            <a:ext cx="1850746" cy="4045306"/>
          </a:xfrm>
          <a:prstGeom prst="roundRect">
            <a:avLst>
              <a:gd name="adj" fmla="val 10000"/>
            </a:avLst>
          </a:prstGeom>
          <a:solidFill>
            <a:srgbClr val="FFFFFF"/>
          </a:solidFill>
          <a:ln w="12700">
            <a:solidFill>
              <a:srgbClr val="FFFFFF"/>
            </a:solidFill>
            <a:prstDash val="solid"/>
          </a:ln>
        </p:spPr>
      </p:sp>
      <p:sp>
        <p:nvSpPr>
          <p:cNvPr id="15" name="Text 10"/>
          <p:cNvSpPr txBox="1"/>
          <p:nvPr/>
        </p:nvSpPr>
        <p:spPr>
          <a:xfrm>
            <a:off x="6537887" y="684886"/>
            <a:ext cx="1554626" cy="231343"/>
          </a:xfrm>
          <a:prstGeom prst="rect">
            <a:avLst/>
          </a:prstGeom>
          <a:noFill/>
          <a:ln/>
        </p:spPr>
        <p:txBody>
          <a:bodyPr wrap="square" lIns="0" tIns="0" rIns="0" bIns="0" rtlCol="0" anchor="t"/>
          <a:lstStyle/>
          <a:p>
            <a:pPr indent="0" marL="0">
              <a:buNone/>
            </a:pPr>
            <a:r>
              <a:rPr lang="en-US" sz="1265" b="1" dirty="0">
                <a:solidFill>
                  <a:srgbClr val="2F5BD3"/>
                </a:solidFill>
                <a:latin typeface="Arial" pitchFamily="34" charset="0"/>
                <a:ea typeface="Arial" pitchFamily="34" charset="-122"/>
                <a:cs typeface="Arial" pitchFamily="34" charset="-120"/>
              </a:rPr>
              <a:t>Kagaz</a:t>
            </a:r>
            <a:endParaRPr lang="en-US" sz="1265" dirty="0"/>
          </a:p>
        </p:txBody>
      </p:sp>
      <p:sp>
        <p:nvSpPr>
          <p:cNvPr id="16" name="Text 11"/>
          <p:cNvSpPr txBox="1"/>
          <p:nvPr/>
        </p:nvSpPr>
        <p:spPr>
          <a:xfrm>
            <a:off x="6537887" y="1021385"/>
            <a:ext cx="1554626" cy="273406"/>
          </a:xfrm>
          <a:prstGeom prst="rect">
            <a:avLst/>
          </a:prstGeom>
          <a:noFill/>
          <a:ln/>
        </p:spPr>
        <p:txBody>
          <a:bodyPr wrap="square" lIns="0" tIns="0" rIns="0" bIns="0" rtlCol="0" anchor="t"/>
          <a:lstStyle/>
          <a:p>
            <a:pPr indent="0" marL="0">
              <a:buNone/>
            </a:pPr>
            <a:r>
              <a:rPr lang="en-US" sz="1093" b="1" dirty="0">
                <a:solidFill>
                  <a:srgbClr val="1F2937"/>
                </a:solidFill>
                <a:latin typeface="Arial" pitchFamily="34" charset="0"/>
                <a:ea typeface="Arial" pitchFamily="34" charset="-122"/>
                <a:cs typeface="Arial" pitchFamily="34" charset="-120"/>
              </a:rPr>
              <a:t>New passport</a:t>
            </a:r>
            <a:endParaRPr lang="en-US" sz="1093" dirty="0"/>
          </a:p>
        </p:txBody>
      </p:sp>
      <p:sp>
        <p:nvSpPr>
          <p:cNvPr id="17" name="Text 12"/>
          <p:cNvSpPr txBox="1"/>
          <p:nvPr/>
        </p:nvSpPr>
        <p:spPr>
          <a:xfrm>
            <a:off x="6537887" y="1294790"/>
            <a:ext cx="1554626" cy="210312"/>
          </a:xfrm>
          <a:prstGeom prst="rect">
            <a:avLst/>
          </a:prstGeom>
          <a:noFill/>
          <a:ln/>
        </p:spPr>
        <p:txBody>
          <a:bodyPr wrap="square" lIns="0" tIns="0" rIns="0" bIns="0" rtlCol="0" anchor="t"/>
          <a:lstStyle/>
          <a:p>
            <a:pPr indent="0" marL="0">
              <a:buNone/>
            </a:pPr>
            <a:r>
              <a:rPr lang="en-US" sz="863" dirty="0">
                <a:solidFill>
                  <a:srgbClr val="5E6B7E"/>
                </a:solidFill>
                <a:latin typeface="Arial" pitchFamily="34" charset="0"/>
                <a:ea typeface="Arial" pitchFamily="34" charset="-122"/>
                <a:cs typeface="Arial" pitchFamily="34" charset="-120"/>
              </a:rPr>
              <a:t>5 documents to carry</a:t>
            </a:r>
            <a:endParaRPr lang="en-US" sz="863" dirty="0"/>
          </a:p>
        </p:txBody>
      </p:sp>
      <p:sp>
        <p:nvSpPr>
          <p:cNvPr id="18" name="Shape 13"/>
          <p:cNvSpPr/>
          <p:nvPr/>
        </p:nvSpPr>
        <p:spPr>
          <a:xfrm>
            <a:off x="6537887" y="1673352"/>
            <a:ext cx="231343" cy="231343"/>
          </a:xfrm>
          <a:prstGeom prst="ellipse">
            <a:avLst/>
          </a:prstGeom>
          <a:solidFill>
            <a:srgbClr val="18A06B"/>
          </a:solidFill>
          <a:ln w="12700">
            <a:solidFill>
              <a:srgbClr val="18A06B"/>
            </a:solidFill>
            <a:prstDash val="solid"/>
          </a:ln>
        </p:spPr>
      </p:sp>
      <p:pic>
        <p:nvPicPr>
          <p:cNvPr id="19" name="Image 3" descr="preencoded.png">    </p:cNvPr>
          <p:cNvPicPr>
            <a:picLocks noChangeAspect="1"/>
          </p:cNvPicPr>
          <p:nvPr/>
        </p:nvPicPr>
        <p:blipFill>
          <a:blip r:embed="rId4"/>
          <a:stretch>
            <a:fillRect/>
          </a:stretch>
        </p:blipFill>
        <p:spPr>
          <a:xfrm>
            <a:off x="6593409" y="1728874"/>
            <a:ext cx="120298" cy="120298"/>
          </a:xfrm>
          <a:prstGeom prst="rect">
            <a:avLst/>
          </a:prstGeom>
        </p:spPr>
      </p:pic>
      <p:sp>
        <p:nvSpPr>
          <p:cNvPr id="20" name="Text 14"/>
          <p:cNvSpPr txBox="1"/>
          <p:nvPr/>
        </p:nvSpPr>
        <p:spPr>
          <a:xfrm>
            <a:off x="6874386" y="1652321"/>
            <a:ext cx="1218127" cy="273406"/>
          </a:xfrm>
          <a:prstGeom prst="rect">
            <a:avLst/>
          </a:prstGeom>
          <a:noFill/>
          <a:ln/>
        </p:spPr>
        <p:txBody>
          <a:bodyPr wrap="square" lIns="0" tIns="0" rIns="0" bIns="0" rtlCol="0" anchor="ctr"/>
          <a:lstStyle/>
          <a:p>
            <a:pPr indent="0" marL="0">
              <a:buNone/>
            </a:pPr>
            <a:r>
              <a:rPr lang="en-US" sz="920" dirty="0">
                <a:solidFill>
                  <a:srgbClr val="1F2937"/>
                </a:solidFill>
                <a:latin typeface="Arial" pitchFamily="34" charset="0"/>
                <a:ea typeface="Arial" pitchFamily="34" charset="-122"/>
                <a:cs typeface="Arial" pitchFamily="34" charset="-120"/>
              </a:rPr>
              <a:t>Proof of address</a:t>
            </a:r>
            <a:endParaRPr lang="en-US" sz="920" dirty="0"/>
          </a:p>
        </p:txBody>
      </p:sp>
      <p:sp>
        <p:nvSpPr>
          <p:cNvPr id="21" name="Shape 15"/>
          <p:cNvSpPr/>
          <p:nvPr/>
        </p:nvSpPr>
        <p:spPr>
          <a:xfrm>
            <a:off x="6537887" y="2093976"/>
            <a:ext cx="231343" cy="231343"/>
          </a:xfrm>
          <a:prstGeom prst="ellipse">
            <a:avLst/>
          </a:prstGeom>
          <a:solidFill>
            <a:srgbClr val="18A06B"/>
          </a:solidFill>
          <a:ln w="12700">
            <a:solidFill>
              <a:srgbClr val="18A06B"/>
            </a:solidFill>
            <a:prstDash val="solid"/>
          </a:ln>
        </p:spPr>
      </p:sp>
      <p:pic>
        <p:nvPicPr>
          <p:cNvPr id="22" name="Image 4" descr="preencoded.png">    </p:cNvPr>
          <p:cNvPicPr>
            <a:picLocks noChangeAspect="1"/>
          </p:cNvPicPr>
          <p:nvPr/>
        </p:nvPicPr>
        <p:blipFill>
          <a:blip r:embed="rId5"/>
          <a:stretch>
            <a:fillRect/>
          </a:stretch>
        </p:blipFill>
        <p:spPr>
          <a:xfrm>
            <a:off x="6593409" y="2149498"/>
            <a:ext cx="120298" cy="120298"/>
          </a:xfrm>
          <a:prstGeom prst="rect">
            <a:avLst/>
          </a:prstGeom>
        </p:spPr>
      </p:pic>
      <p:sp>
        <p:nvSpPr>
          <p:cNvPr id="23" name="Text 16"/>
          <p:cNvSpPr txBox="1"/>
          <p:nvPr/>
        </p:nvSpPr>
        <p:spPr>
          <a:xfrm>
            <a:off x="6874386" y="2072945"/>
            <a:ext cx="1218127" cy="273406"/>
          </a:xfrm>
          <a:prstGeom prst="rect">
            <a:avLst/>
          </a:prstGeom>
          <a:noFill/>
          <a:ln/>
        </p:spPr>
        <p:txBody>
          <a:bodyPr wrap="square" lIns="0" tIns="0" rIns="0" bIns="0" rtlCol="0" anchor="ctr"/>
          <a:lstStyle/>
          <a:p>
            <a:pPr indent="0" marL="0">
              <a:buNone/>
            </a:pPr>
            <a:r>
              <a:rPr lang="en-US" sz="920" dirty="0">
                <a:solidFill>
                  <a:srgbClr val="1F2937"/>
                </a:solidFill>
                <a:latin typeface="Arial" pitchFamily="34" charset="0"/>
                <a:ea typeface="Arial" pitchFamily="34" charset="-122"/>
                <a:cs typeface="Arial" pitchFamily="34" charset="-120"/>
              </a:rPr>
              <a:t>Proof of date of birth</a:t>
            </a:r>
            <a:endParaRPr lang="en-US" sz="920" dirty="0"/>
          </a:p>
        </p:txBody>
      </p:sp>
      <p:sp>
        <p:nvSpPr>
          <p:cNvPr id="24" name="Shape 17"/>
          <p:cNvSpPr/>
          <p:nvPr/>
        </p:nvSpPr>
        <p:spPr>
          <a:xfrm>
            <a:off x="6537887" y="2514600"/>
            <a:ext cx="231343" cy="231343"/>
          </a:xfrm>
          <a:prstGeom prst="ellipse">
            <a:avLst/>
          </a:prstGeom>
          <a:solidFill>
            <a:srgbClr val="18A06B"/>
          </a:solidFill>
          <a:ln w="12700">
            <a:solidFill>
              <a:srgbClr val="18A06B"/>
            </a:solidFill>
            <a:prstDash val="solid"/>
          </a:ln>
        </p:spPr>
      </p:sp>
      <p:pic>
        <p:nvPicPr>
          <p:cNvPr id="25" name="Image 5" descr="preencoded.png">    </p:cNvPr>
          <p:cNvPicPr>
            <a:picLocks noChangeAspect="1"/>
          </p:cNvPicPr>
          <p:nvPr/>
        </p:nvPicPr>
        <p:blipFill>
          <a:blip r:embed="rId6"/>
          <a:stretch>
            <a:fillRect/>
          </a:stretch>
        </p:blipFill>
        <p:spPr>
          <a:xfrm>
            <a:off x="6593409" y="2570122"/>
            <a:ext cx="120298" cy="120298"/>
          </a:xfrm>
          <a:prstGeom prst="rect">
            <a:avLst/>
          </a:prstGeom>
        </p:spPr>
      </p:pic>
      <p:sp>
        <p:nvSpPr>
          <p:cNvPr id="26" name="Text 18"/>
          <p:cNvSpPr txBox="1"/>
          <p:nvPr/>
        </p:nvSpPr>
        <p:spPr>
          <a:xfrm>
            <a:off x="6874386" y="2493569"/>
            <a:ext cx="1218127" cy="273406"/>
          </a:xfrm>
          <a:prstGeom prst="rect">
            <a:avLst/>
          </a:prstGeom>
          <a:noFill/>
          <a:ln/>
        </p:spPr>
        <p:txBody>
          <a:bodyPr wrap="square" lIns="0" tIns="0" rIns="0" bIns="0" rtlCol="0" anchor="ctr"/>
          <a:lstStyle/>
          <a:p>
            <a:pPr indent="0" marL="0">
              <a:buNone/>
            </a:pPr>
            <a:r>
              <a:rPr lang="en-US" sz="920" dirty="0">
                <a:solidFill>
                  <a:srgbClr val="1F2937"/>
                </a:solidFill>
                <a:latin typeface="Arial" pitchFamily="34" charset="0"/>
                <a:ea typeface="Arial" pitchFamily="34" charset="-122"/>
                <a:cs typeface="Arial" pitchFamily="34" charset="-120"/>
              </a:rPr>
              <a:t>Aadhaar card</a:t>
            </a:r>
            <a:endParaRPr lang="en-US" sz="920" dirty="0"/>
          </a:p>
        </p:txBody>
      </p:sp>
      <p:sp>
        <p:nvSpPr>
          <p:cNvPr id="27" name="Shape 19"/>
          <p:cNvSpPr/>
          <p:nvPr/>
        </p:nvSpPr>
        <p:spPr>
          <a:xfrm>
            <a:off x="6537887" y="2935224"/>
            <a:ext cx="231343" cy="231343"/>
          </a:xfrm>
          <a:prstGeom prst="ellipse">
            <a:avLst/>
          </a:prstGeom>
          <a:solidFill>
            <a:srgbClr val="18A06B"/>
          </a:solidFill>
          <a:ln w="12700">
            <a:solidFill>
              <a:srgbClr val="18A06B"/>
            </a:solidFill>
            <a:prstDash val="solid"/>
          </a:ln>
        </p:spPr>
      </p:sp>
      <p:pic>
        <p:nvPicPr>
          <p:cNvPr id="28" name="Image 6" descr="preencoded.png">    </p:cNvPr>
          <p:cNvPicPr>
            <a:picLocks noChangeAspect="1"/>
          </p:cNvPicPr>
          <p:nvPr/>
        </p:nvPicPr>
        <p:blipFill>
          <a:blip r:embed="rId7"/>
          <a:stretch>
            <a:fillRect/>
          </a:stretch>
        </p:blipFill>
        <p:spPr>
          <a:xfrm>
            <a:off x="6593409" y="2990746"/>
            <a:ext cx="120298" cy="120298"/>
          </a:xfrm>
          <a:prstGeom prst="rect">
            <a:avLst/>
          </a:prstGeom>
        </p:spPr>
      </p:pic>
      <p:sp>
        <p:nvSpPr>
          <p:cNvPr id="29" name="Text 20"/>
          <p:cNvSpPr txBox="1"/>
          <p:nvPr/>
        </p:nvSpPr>
        <p:spPr>
          <a:xfrm>
            <a:off x="6874386" y="2914193"/>
            <a:ext cx="1218127" cy="273406"/>
          </a:xfrm>
          <a:prstGeom prst="rect">
            <a:avLst/>
          </a:prstGeom>
          <a:noFill/>
          <a:ln/>
        </p:spPr>
        <p:txBody>
          <a:bodyPr wrap="square" lIns="0" tIns="0" rIns="0" bIns="0" rtlCol="0" anchor="ctr"/>
          <a:lstStyle/>
          <a:p>
            <a:pPr indent="0" marL="0">
              <a:buNone/>
            </a:pPr>
            <a:r>
              <a:rPr lang="en-US" sz="920" dirty="0">
                <a:solidFill>
                  <a:srgbClr val="1F2937"/>
                </a:solidFill>
                <a:latin typeface="Arial" pitchFamily="34" charset="0"/>
                <a:ea typeface="Arial" pitchFamily="34" charset="-122"/>
                <a:cs typeface="Arial" pitchFamily="34" charset="-120"/>
              </a:rPr>
              <a:t>Old passport, if any</a:t>
            </a:r>
            <a:endParaRPr lang="en-US" sz="920" dirty="0"/>
          </a:p>
        </p:txBody>
      </p:sp>
      <p:sp>
        <p:nvSpPr>
          <p:cNvPr id="30" name="Shape 21"/>
          <p:cNvSpPr/>
          <p:nvPr/>
        </p:nvSpPr>
        <p:spPr>
          <a:xfrm>
            <a:off x="6537887" y="3355848"/>
            <a:ext cx="231343" cy="231343"/>
          </a:xfrm>
          <a:prstGeom prst="ellipse">
            <a:avLst/>
          </a:prstGeom>
          <a:solidFill>
            <a:srgbClr val="18A06B"/>
          </a:solidFill>
          <a:ln w="12700">
            <a:solidFill>
              <a:srgbClr val="18A06B"/>
            </a:solidFill>
            <a:prstDash val="solid"/>
          </a:ln>
        </p:spPr>
      </p:sp>
      <p:pic>
        <p:nvPicPr>
          <p:cNvPr id="31" name="Image 7" descr="preencoded.png">    </p:cNvPr>
          <p:cNvPicPr>
            <a:picLocks noChangeAspect="1"/>
          </p:cNvPicPr>
          <p:nvPr/>
        </p:nvPicPr>
        <p:blipFill>
          <a:blip r:embed="rId8"/>
          <a:stretch>
            <a:fillRect/>
          </a:stretch>
        </p:blipFill>
        <p:spPr>
          <a:xfrm>
            <a:off x="6593409" y="3411370"/>
            <a:ext cx="120298" cy="120298"/>
          </a:xfrm>
          <a:prstGeom prst="rect">
            <a:avLst/>
          </a:prstGeom>
        </p:spPr>
      </p:pic>
      <p:sp>
        <p:nvSpPr>
          <p:cNvPr id="32" name="Text 22"/>
          <p:cNvSpPr txBox="1"/>
          <p:nvPr/>
        </p:nvSpPr>
        <p:spPr>
          <a:xfrm>
            <a:off x="6874386" y="3334817"/>
            <a:ext cx="1218127" cy="273406"/>
          </a:xfrm>
          <a:prstGeom prst="rect">
            <a:avLst/>
          </a:prstGeom>
          <a:noFill/>
          <a:ln/>
        </p:spPr>
        <p:txBody>
          <a:bodyPr wrap="square" lIns="0" tIns="0" rIns="0" bIns="0" rtlCol="0" anchor="ctr"/>
          <a:lstStyle/>
          <a:p>
            <a:pPr indent="0" marL="0">
              <a:buNone/>
            </a:pPr>
            <a:r>
              <a:rPr lang="en-US" sz="920" dirty="0">
                <a:solidFill>
                  <a:srgbClr val="1F2937"/>
                </a:solidFill>
                <a:latin typeface="Arial" pitchFamily="34" charset="0"/>
                <a:ea typeface="Arial" pitchFamily="34" charset="-122"/>
                <a:cs typeface="Arial" pitchFamily="34" charset="-120"/>
              </a:rPr>
              <a:t>Appointment slip</a:t>
            </a:r>
            <a:endParaRPr lang="en-US" sz="920" dirty="0"/>
          </a:p>
        </p:txBody>
      </p:sp>
      <p:sp>
        <p:nvSpPr>
          <p:cNvPr id="33" name="Shape 23"/>
          <p:cNvSpPr/>
          <p:nvPr/>
        </p:nvSpPr>
        <p:spPr>
          <a:xfrm>
            <a:off x="6537887" y="3931006"/>
            <a:ext cx="1554626" cy="378562"/>
          </a:xfrm>
          <a:prstGeom prst="roundRect">
            <a:avLst>
              <a:gd name="adj" fmla="val 50000"/>
            </a:avLst>
          </a:prstGeom>
          <a:solidFill>
            <a:srgbClr val="18A06B"/>
          </a:solidFill>
          <a:ln w="12700">
            <a:solidFill>
              <a:srgbClr val="18A06B"/>
            </a:solidFill>
            <a:prstDash val="solid"/>
          </a:ln>
        </p:spPr>
      </p:sp>
      <p:sp>
        <p:nvSpPr>
          <p:cNvPr id="34" name="Text 24"/>
          <p:cNvSpPr txBox="1"/>
          <p:nvPr/>
        </p:nvSpPr>
        <p:spPr>
          <a:xfrm>
            <a:off x="6537887" y="3931006"/>
            <a:ext cx="1554626" cy="378562"/>
          </a:xfrm>
          <a:prstGeom prst="rect">
            <a:avLst/>
          </a:prstGeom>
          <a:noFill/>
          <a:ln/>
        </p:spPr>
        <p:txBody>
          <a:bodyPr wrap="square" lIns="0" tIns="0" rIns="0" bIns="0" rtlCol="0" anchor="ctr"/>
          <a:lstStyle/>
          <a:p>
            <a:pPr algn="ctr" indent="0" marL="0">
              <a:buNone/>
            </a:pPr>
            <a:r>
              <a:rPr lang="en-US" sz="977" b="1" dirty="0">
                <a:solidFill>
                  <a:srgbClr val="FFFFFF"/>
                </a:solidFill>
                <a:latin typeface="Arial" pitchFamily="34" charset="0"/>
                <a:ea typeface="Arial" pitchFamily="34" charset="-122"/>
                <a:cs typeface="Arial" pitchFamily="34" charset="-120"/>
              </a:rPr>
              <a:t>Share on WhatsApp</a:t>
            </a:r>
            <a:endParaRPr lang="en-US" sz="977" dirty="0"/>
          </a:p>
        </p:txBody>
      </p:sp>
      <p:sp>
        <p:nvSpPr>
          <p:cNvPr id="35" name="Text 25"/>
          <p:cNvSpPr txBox="1"/>
          <p:nvPr/>
        </p:nvSpPr>
        <p:spPr>
          <a:xfrm>
            <a:off x="6537887" y="4341114"/>
            <a:ext cx="1554626" cy="168250"/>
          </a:xfrm>
          <a:prstGeom prst="rect">
            <a:avLst/>
          </a:prstGeom>
          <a:noFill/>
          <a:ln/>
        </p:spPr>
        <p:txBody>
          <a:bodyPr wrap="square" lIns="0" tIns="0" rIns="0" bIns="0" rtlCol="0" anchor="t"/>
          <a:lstStyle/>
          <a:p>
            <a:pPr algn="ctr" indent="0" marL="0">
              <a:buNone/>
            </a:pPr>
            <a:r>
              <a:rPr lang="en-US" sz="690" dirty="0">
                <a:solidFill>
                  <a:srgbClr val="5E6B7E"/>
                </a:solidFill>
                <a:latin typeface="Arial" pitchFamily="34" charset="0"/>
                <a:ea typeface="Arial" pitchFamily="34" charset="-122"/>
                <a:cs typeface="Arial" pitchFamily="34" charset="-120"/>
              </a:rPr>
              <a:t>Sample data</a:t>
            </a:r>
            <a:endParaRPr lang="en-US" sz="69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8046720" cy="548640"/>
          </a:xfrm>
          <a:prstGeom prst="rect">
            <a:avLst/>
          </a:prstGeom>
          <a:noFill/>
          <a:ln/>
        </p:spPr>
        <p:txBody>
          <a:bodyPr wrap="square" lIns="0" tIns="0" rIns="0" bIns="0" rtlCol="0" anchor="t"/>
          <a:lstStyle/>
          <a:p>
            <a:pPr indent="0" marL="0">
              <a:buNone/>
            </a:pPr>
            <a:r>
              <a:rPr lang="en-US" sz="2800" b="1" dirty="0">
                <a:solidFill>
                  <a:srgbClr val="14213D"/>
                </a:solidFill>
                <a:latin typeface="Arial" pitchFamily="34" charset="0"/>
                <a:ea typeface="Arial" pitchFamily="34" charset="-122"/>
                <a:cs typeface="Arial" pitchFamily="34" charset="-120"/>
              </a:rPr>
              <a:t>From question to checklist in three taps</a:t>
            </a:r>
            <a:endParaRPr lang="en-US" sz="2800" dirty="0"/>
          </a:p>
        </p:txBody>
      </p:sp>
      <p:sp>
        <p:nvSpPr>
          <p:cNvPr id="3" name="Shape 1"/>
          <p:cNvSpPr/>
          <p:nvPr/>
        </p:nvSpPr>
        <p:spPr>
          <a:xfrm>
            <a:off x="548640" y="1078992"/>
            <a:ext cx="347472" cy="347472"/>
          </a:xfrm>
          <a:prstGeom prst="ellipse">
            <a:avLst/>
          </a:prstGeom>
          <a:solidFill>
            <a:srgbClr val="2F5BD3"/>
          </a:solidFill>
          <a:ln w="12700">
            <a:solidFill>
              <a:srgbClr val="2F5BD3"/>
            </a:solidFill>
            <a:prstDash val="solid"/>
          </a:ln>
        </p:spPr>
      </p:sp>
      <p:sp>
        <p:nvSpPr>
          <p:cNvPr id="4" name="Text 2"/>
          <p:cNvSpPr txBox="1"/>
          <p:nvPr/>
        </p:nvSpPr>
        <p:spPr>
          <a:xfrm>
            <a:off x="548640" y="10789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5" name="Text 3"/>
          <p:cNvSpPr txBox="1"/>
          <p:nvPr/>
        </p:nvSpPr>
        <p:spPr>
          <a:xfrm>
            <a:off x="1005840" y="1078992"/>
            <a:ext cx="2103120" cy="347472"/>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Pick what you are applying for</a:t>
            </a:r>
            <a:endParaRPr lang="en-US" sz="1300" dirty="0"/>
          </a:p>
        </p:txBody>
      </p:sp>
      <p:sp>
        <p:nvSpPr>
          <p:cNvPr id="6" name="Shape 4"/>
          <p:cNvSpPr/>
          <p:nvPr/>
        </p:nvSpPr>
        <p:spPr>
          <a:xfrm>
            <a:off x="960120" y="1600200"/>
            <a:ext cx="1600200" cy="3246120"/>
          </a:xfrm>
          <a:prstGeom prst="roundRect">
            <a:avLst>
              <a:gd name="adj" fmla="val 14000"/>
            </a:avLst>
          </a:prstGeom>
          <a:solidFill>
            <a:srgbClr val="0B1224"/>
          </a:solidFill>
          <a:ln w="12700">
            <a:solidFill>
              <a:srgbClr val="3B4B70"/>
            </a:solidFill>
            <a:prstDash val="solid"/>
          </a:ln>
        </p:spPr>
      </p:sp>
      <p:sp>
        <p:nvSpPr>
          <p:cNvPr id="7" name="Shape 5"/>
          <p:cNvSpPr/>
          <p:nvPr/>
        </p:nvSpPr>
        <p:spPr>
          <a:xfrm>
            <a:off x="1056132" y="1696212"/>
            <a:ext cx="1408176" cy="3054096"/>
          </a:xfrm>
          <a:prstGeom prst="roundRect">
            <a:avLst>
              <a:gd name="adj" fmla="val 10000"/>
            </a:avLst>
          </a:prstGeom>
          <a:solidFill>
            <a:srgbClr val="FFFFFF"/>
          </a:solidFill>
          <a:ln w="12700">
            <a:solidFill>
              <a:srgbClr val="FFFFFF"/>
            </a:solidFill>
            <a:prstDash val="solid"/>
          </a:ln>
        </p:spPr>
      </p:sp>
      <p:sp>
        <p:nvSpPr>
          <p:cNvPr id="8" name="Text 6"/>
          <p:cNvSpPr txBox="1"/>
          <p:nvPr/>
        </p:nvSpPr>
        <p:spPr>
          <a:xfrm>
            <a:off x="1168786" y="1808226"/>
            <a:ext cx="1182868" cy="176022"/>
          </a:xfrm>
          <a:prstGeom prst="rect">
            <a:avLst/>
          </a:prstGeom>
          <a:noFill/>
          <a:ln/>
        </p:spPr>
        <p:txBody>
          <a:bodyPr wrap="square" lIns="0" tIns="0" rIns="0" bIns="0" rtlCol="0" anchor="t"/>
          <a:lstStyle/>
          <a:p>
            <a:pPr indent="0" marL="0">
              <a:buNone/>
            </a:pPr>
            <a:r>
              <a:rPr lang="en-US" sz="963" b="1" dirty="0">
                <a:solidFill>
                  <a:srgbClr val="2F5BD3"/>
                </a:solidFill>
                <a:latin typeface="Arial" pitchFamily="34" charset="0"/>
                <a:ea typeface="Arial" pitchFamily="34" charset="-122"/>
                <a:cs typeface="Arial" pitchFamily="34" charset="-120"/>
              </a:rPr>
              <a:t>Kagaz</a:t>
            </a:r>
            <a:endParaRPr lang="en-US" sz="963" dirty="0"/>
          </a:p>
        </p:txBody>
      </p:sp>
      <p:sp>
        <p:nvSpPr>
          <p:cNvPr id="9" name="Shape 7"/>
          <p:cNvSpPr/>
          <p:nvPr/>
        </p:nvSpPr>
        <p:spPr>
          <a:xfrm>
            <a:off x="1168786" y="2064258"/>
            <a:ext cx="1182868" cy="240030"/>
          </a:xfrm>
          <a:prstGeom prst="roundRect">
            <a:avLst>
              <a:gd name="adj" fmla="val 50000"/>
            </a:avLst>
          </a:prstGeom>
          <a:solidFill>
            <a:srgbClr val="EEF2FA"/>
          </a:solidFill>
          <a:ln w="12700">
            <a:solidFill>
              <a:srgbClr val="D7DEEA"/>
            </a:solidFill>
            <a:prstDash val="solid"/>
          </a:ln>
        </p:spPr>
      </p:sp>
      <p:pic>
        <p:nvPicPr>
          <p:cNvPr id="10" name="Image 0" descr="preencoded.png">    </p:cNvPr>
          <p:cNvPicPr>
            <a:picLocks noChangeAspect="1"/>
          </p:cNvPicPr>
          <p:nvPr/>
        </p:nvPicPr>
        <p:blipFill>
          <a:blip r:embed="rId1"/>
          <a:stretch>
            <a:fillRect/>
          </a:stretch>
        </p:blipFill>
        <p:spPr>
          <a:xfrm>
            <a:off x="1248796" y="2128266"/>
            <a:ext cx="112014" cy="112014"/>
          </a:xfrm>
          <a:prstGeom prst="rect">
            <a:avLst/>
          </a:prstGeom>
        </p:spPr>
      </p:pic>
      <p:sp>
        <p:nvSpPr>
          <p:cNvPr id="11" name="Text 8"/>
          <p:cNvSpPr txBox="1"/>
          <p:nvPr/>
        </p:nvSpPr>
        <p:spPr>
          <a:xfrm>
            <a:off x="1408816" y="2064258"/>
            <a:ext cx="942838" cy="240030"/>
          </a:xfrm>
          <a:prstGeom prst="rect">
            <a:avLst/>
          </a:prstGeom>
          <a:noFill/>
          <a:ln/>
        </p:spPr>
        <p:txBody>
          <a:bodyPr wrap="square" lIns="0" tIns="0" rIns="0" bIns="0" rtlCol="0" anchor="ctr"/>
          <a:lstStyle/>
          <a:p>
            <a:pPr indent="0" marL="0">
              <a:buNone/>
            </a:pPr>
            <a:r>
              <a:rPr lang="en-US" sz="700" dirty="0">
                <a:solidFill>
                  <a:srgbClr val="5E6B7E"/>
                </a:solidFill>
                <a:latin typeface="Arial" pitchFamily="34" charset="0"/>
                <a:ea typeface="Arial" pitchFamily="34" charset="-122"/>
                <a:cs typeface="Arial" pitchFamily="34" charset="-120"/>
              </a:rPr>
              <a:t>Search a service</a:t>
            </a:r>
            <a:endParaRPr lang="en-US" sz="700" dirty="0"/>
          </a:p>
        </p:txBody>
      </p:sp>
      <p:sp>
        <p:nvSpPr>
          <p:cNvPr id="12" name="Shape 9"/>
          <p:cNvSpPr/>
          <p:nvPr/>
        </p:nvSpPr>
        <p:spPr>
          <a:xfrm>
            <a:off x="1168786" y="2416302"/>
            <a:ext cx="1182868" cy="288036"/>
          </a:xfrm>
          <a:prstGeom prst="roundRect">
            <a:avLst>
              <a:gd name="adj" fmla="val 22222"/>
            </a:avLst>
          </a:prstGeom>
          <a:solidFill>
            <a:srgbClr val="E3EAFB"/>
          </a:solidFill>
          <a:ln w="12700">
            <a:solidFill>
              <a:srgbClr val="2F5BD3"/>
            </a:solidFill>
            <a:prstDash val="solid"/>
          </a:ln>
        </p:spPr>
      </p:sp>
      <p:sp>
        <p:nvSpPr>
          <p:cNvPr id="13" name="Text 10"/>
          <p:cNvSpPr txBox="1"/>
          <p:nvPr/>
        </p:nvSpPr>
        <p:spPr>
          <a:xfrm>
            <a:off x="1264798" y="2416302"/>
            <a:ext cx="1022848" cy="288036"/>
          </a:xfrm>
          <a:prstGeom prst="rect">
            <a:avLst/>
          </a:prstGeom>
          <a:noFill/>
          <a:ln/>
        </p:spPr>
        <p:txBody>
          <a:bodyPr wrap="square" lIns="0" tIns="0" rIns="0" bIns="0" rtlCol="0" anchor="ctr"/>
          <a:lstStyle/>
          <a:p>
            <a:pPr indent="0" marL="0">
              <a:buNone/>
            </a:pPr>
            <a:r>
              <a:rPr lang="en-US" sz="744" b="1" dirty="0">
                <a:solidFill>
                  <a:srgbClr val="1F2937"/>
                </a:solidFill>
                <a:latin typeface="Arial" pitchFamily="34" charset="0"/>
                <a:ea typeface="Arial" pitchFamily="34" charset="-122"/>
                <a:cs typeface="Arial" pitchFamily="34" charset="-120"/>
              </a:rPr>
              <a:t>Passport</a:t>
            </a:r>
            <a:endParaRPr lang="en-US" sz="744" dirty="0"/>
          </a:p>
        </p:txBody>
      </p:sp>
      <p:sp>
        <p:nvSpPr>
          <p:cNvPr id="14" name="Shape 11"/>
          <p:cNvSpPr/>
          <p:nvPr/>
        </p:nvSpPr>
        <p:spPr>
          <a:xfrm>
            <a:off x="1168786" y="2768346"/>
            <a:ext cx="1182868" cy="288036"/>
          </a:xfrm>
          <a:prstGeom prst="roundRect">
            <a:avLst>
              <a:gd name="adj" fmla="val 22222"/>
            </a:avLst>
          </a:prstGeom>
          <a:solidFill>
            <a:srgbClr val="FFFFFF"/>
          </a:solidFill>
          <a:ln w="12700">
            <a:solidFill>
              <a:srgbClr val="D7DEEA"/>
            </a:solidFill>
            <a:prstDash val="solid"/>
          </a:ln>
        </p:spPr>
      </p:sp>
      <p:sp>
        <p:nvSpPr>
          <p:cNvPr id="15" name="Text 12"/>
          <p:cNvSpPr txBox="1"/>
          <p:nvPr/>
        </p:nvSpPr>
        <p:spPr>
          <a:xfrm>
            <a:off x="1264798" y="2768346"/>
            <a:ext cx="1022848" cy="288036"/>
          </a:xfrm>
          <a:prstGeom prst="rect">
            <a:avLst/>
          </a:prstGeom>
          <a:noFill/>
          <a:ln/>
        </p:spPr>
        <p:txBody>
          <a:bodyPr wrap="square" lIns="0" tIns="0" rIns="0" bIns="0" rtlCol="0" anchor="ctr"/>
          <a:lstStyle/>
          <a:p>
            <a:pPr indent="0" marL="0">
              <a:buNone/>
            </a:pPr>
            <a:r>
              <a:rPr lang="en-US" sz="744" dirty="0">
                <a:solidFill>
                  <a:srgbClr val="1F2937"/>
                </a:solidFill>
                <a:latin typeface="Arial" pitchFamily="34" charset="0"/>
                <a:ea typeface="Arial" pitchFamily="34" charset="-122"/>
                <a:cs typeface="Arial" pitchFamily="34" charset="-120"/>
              </a:rPr>
              <a:t>Income certificate</a:t>
            </a:r>
            <a:endParaRPr lang="en-US" sz="744" dirty="0"/>
          </a:p>
        </p:txBody>
      </p:sp>
      <p:sp>
        <p:nvSpPr>
          <p:cNvPr id="16" name="Shape 13"/>
          <p:cNvSpPr/>
          <p:nvPr/>
        </p:nvSpPr>
        <p:spPr>
          <a:xfrm>
            <a:off x="1168786" y="3120390"/>
            <a:ext cx="1182868" cy="288036"/>
          </a:xfrm>
          <a:prstGeom prst="roundRect">
            <a:avLst>
              <a:gd name="adj" fmla="val 22222"/>
            </a:avLst>
          </a:prstGeom>
          <a:solidFill>
            <a:srgbClr val="FFFFFF"/>
          </a:solidFill>
          <a:ln w="12700">
            <a:solidFill>
              <a:srgbClr val="D7DEEA"/>
            </a:solidFill>
            <a:prstDash val="solid"/>
          </a:ln>
        </p:spPr>
      </p:sp>
      <p:sp>
        <p:nvSpPr>
          <p:cNvPr id="17" name="Text 14"/>
          <p:cNvSpPr txBox="1"/>
          <p:nvPr/>
        </p:nvSpPr>
        <p:spPr>
          <a:xfrm>
            <a:off x="1264798" y="3120390"/>
            <a:ext cx="1022848" cy="288036"/>
          </a:xfrm>
          <a:prstGeom prst="rect">
            <a:avLst/>
          </a:prstGeom>
          <a:noFill/>
          <a:ln/>
        </p:spPr>
        <p:txBody>
          <a:bodyPr wrap="square" lIns="0" tIns="0" rIns="0" bIns="0" rtlCol="0" anchor="ctr"/>
          <a:lstStyle/>
          <a:p>
            <a:pPr indent="0" marL="0">
              <a:buNone/>
            </a:pPr>
            <a:r>
              <a:rPr lang="en-US" sz="744" dirty="0">
                <a:solidFill>
                  <a:srgbClr val="1F2937"/>
                </a:solidFill>
                <a:latin typeface="Arial" pitchFamily="34" charset="0"/>
                <a:ea typeface="Arial" pitchFamily="34" charset="-122"/>
                <a:cs typeface="Arial" pitchFamily="34" charset="-120"/>
              </a:rPr>
              <a:t>Domicile certificate</a:t>
            </a:r>
            <a:endParaRPr lang="en-US" sz="744" dirty="0"/>
          </a:p>
        </p:txBody>
      </p:sp>
      <p:sp>
        <p:nvSpPr>
          <p:cNvPr id="18" name="Shape 15"/>
          <p:cNvSpPr/>
          <p:nvPr/>
        </p:nvSpPr>
        <p:spPr>
          <a:xfrm>
            <a:off x="1168786" y="3472434"/>
            <a:ext cx="1182868" cy="288036"/>
          </a:xfrm>
          <a:prstGeom prst="roundRect">
            <a:avLst>
              <a:gd name="adj" fmla="val 22222"/>
            </a:avLst>
          </a:prstGeom>
          <a:solidFill>
            <a:srgbClr val="FFFFFF"/>
          </a:solidFill>
          <a:ln w="12700">
            <a:solidFill>
              <a:srgbClr val="D7DEEA"/>
            </a:solidFill>
            <a:prstDash val="solid"/>
          </a:ln>
        </p:spPr>
      </p:sp>
      <p:sp>
        <p:nvSpPr>
          <p:cNvPr id="19" name="Text 16"/>
          <p:cNvSpPr txBox="1"/>
          <p:nvPr/>
        </p:nvSpPr>
        <p:spPr>
          <a:xfrm>
            <a:off x="1264798" y="3472434"/>
            <a:ext cx="1022848" cy="288036"/>
          </a:xfrm>
          <a:prstGeom prst="rect">
            <a:avLst/>
          </a:prstGeom>
          <a:noFill/>
          <a:ln/>
        </p:spPr>
        <p:txBody>
          <a:bodyPr wrap="square" lIns="0" tIns="0" rIns="0" bIns="0" rtlCol="0" anchor="ctr"/>
          <a:lstStyle/>
          <a:p>
            <a:pPr indent="0" marL="0">
              <a:buNone/>
            </a:pPr>
            <a:r>
              <a:rPr lang="en-US" sz="744" dirty="0">
                <a:solidFill>
                  <a:srgbClr val="1F2937"/>
                </a:solidFill>
                <a:latin typeface="Arial" pitchFamily="34" charset="0"/>
                <a:ea typeface="Arial" pitchFamily="34" charset="-122"/>
                <a:cs typeface="Arial" pitchFamily="34" charset="-120"/>
              </a:rPr>
              <a:t>Driving licence</a:t>
            </a:r>
            <a:endParaRPr lang="en-US" sz="744" dirty="0"/>
          </a:p>
        </p:txBody>
      </p:sp>
      <p:sp>
        <p:nvSpPr>
          <p:cNvPr id="20" name="Shape 17"/>
          <p:cNvSpPr/>
          <p:nvPr/>
        </p:nvSpPr>
        <p:spPr>
          <a:xfrm>
            <a:off x="1168786" y="3824478"/>
            <a:ext cx="1182868" cy="288036"/>
          </a:xfrm>
          <a:prstGeom prst="roundRect">
            <a:avLst>
              <a:gd name="adj" fmla="val 22222"/>
            </a:avLst>
          </a:prstGeom>
          <a:solidFill>
            <a:srgbClr val="FFFFFF"/>
          </a:solidFill>
          <a:ln w="12700">
            <a:solidFill>
              <a:srgbClr val="D7DEEA"/>
            </a:solidFill>
            <a:prstDash val="solid"/>
          </a:ln>
        </p:spPr>
      </p:sp>
      <p:sp>
        <p:nvSpPr>
          <p:cNvPr id="21" name="Text 18"/>
          <p:cNvSpPr txBox="1"/>
          <p:nvPr/>
        </p:nvSpPr>
        <p:spPr>
          <a:xfrm>
            <a:off x="1264798" y="3824478"/>
            <a:ext cx="1022848" cy="288036"/>
          </a:xfrm>
          <a:prstGeom prst="rect">
            <a:avLst/>
          </a:prstGeom>
          <a:noFill/>
          <a:ln/>
        </p:spPr>
        <p:txBody>
          <a:bodyPr wrap="square" lIns="0" tIns="0" rIns="0" bIns="0" rtlCol="0" anchor="ctr"/>
          <a:lstStyle/>
          <a:p>
            <a:pPr indent="0" marL="0">
              <a:buNone/>
            </a:pPr>
            <a:r>
              <a:rPr lang="en-US" sz="744" dirty="0">
                <a:solidFill>
                  <a:srgbClr val="1F2937"/>
                </a:solidFill>
                <a:latin typeface="Arial" pitchFamily="34" charset="0"/>
                <a:ea typeface="Arial" pitchFamily="34" charset="-122"/>
                <a:cs typeface="Arial" pitchFamily="34" charset="-120"/>
              </a:rPr>
              <a:t>PAN card</a:t>
            </a:r>
            <a:endParaRPr lang="en-US" sz="744" dirty="0"/>
          </a:p>
        </p:txBody>
      </p:sp>
      <p:sp>
        <p:nvSpPr>
          <p:cNvPr id="22" name="Shape 19"/>
          <p:cNvSpPr/>
          <p:nvPr/>
        </p:nvSpPr>
        <p:spPr>
          <a:xfrm>
            <a:off x="3291840" y="1078992"/>
            <a:ext cx="347472" cy="347472"/>
          </a:xfrm>
          <a:prstGeom prst="ellipse">
            <a:avLst/>
          </a:prstGeom>
          <a:solidFill>
            <a:srgbClr val="2F5BD3"/>
          </a:solidFill>
          <a:ln w="12700">
            <a:solidFill>
              <a:srgbClr val="2F5BD3"/>
            </a:solidFill>
            <a:prstDash val="solid"/>
          </a:ln>
        </p:spPr>
      </p:sp>
      <p:sp>
        <p:nvSpPr>
          <p:cNvPr id="23" name="Text 20"/>
          <p:cNvSpPr txBox="1"/>
          <p:nvPr/>
        </p:nvSpPr>
        <p:spPr>
          <a:xfrm>
            <a:off x="3291840" y="10789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4" name="Text 21"/>
          <p:cNvSpPr txBox="1"/>
          <p:nvPr/>
        </p:nvSpPr>
        <p:spPr>
          <a:xfrm>
            <a:off x="3749040" y="1078992"/>
            <a:ext cx="2103120" cy="347472"/>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Answer three quick questions</a:t>
            </a:r>
            <a:endParaRPr lang="en-US" sz="1300" dirty="0"/>
          </a:p>
        </p:txBody>
      </p:sp>
      <p:sp>
        <p:nvSpPr>
          <p:cNvPr id="25" name="Shape 22"/>
          <p:cNvSpPr/>
          <p:nvPr/>
        </p:nvSpPr>
        <p:spPr>
          <a:xfrm>
            <a:off x="3703320" y="1600200"/>
            <a:ext cx="1600200" cy="3246120"/>
          </a:xfrm>
          <a:prstGeom prst="roundRect">
            <a:avLst>
              <a:gd name="adj" fmla="val 14000"/>
            </a:avLst>
          </a:prstGeom>
          <a:solidFill>
            <a:srgbClr val="0B1224"/>
          </a:solidFill>
          <a:ln w="12700">
            <a:solidFill>
              <a:srgbClr val="3B4B70"/>
            </a:solidFill>
            <a:prstDash val="solid"/>
          </a:ln>
        </p:spPr>
      </p:sp>
      <p:sp>
        <p:nvSpPr>
          <p:cNvPr id="26" name="Shape 23"/>
          <p:cNvSpPr/>
          <p:nvPr/>
        </p:nvSpPr>
        <p:spPr>
          <a:xfrm>
            <a:off x="3799332" y="1696212"/>
            <a:ext cx="1408176" cy="3054096"/>
          </a:xfrm>
          <a:prstGeom prst="roundRect">
            <a:avLst>
              <a:gd name="adj" fmla="val 10000"/>
            </a:avLst>
          </a:prstGeom>
          <a:solidFill>
            <a:srgbClr val="FFFFFF"/>
          </a:solidFill>
          <a:ln w="12700">
            <a:solidFill>
              <a:srgbClr val="FFFFFF"/>
            </a:solidFill>
            <a:prstDash val="solid"/>
          </a:ln>
        </p:spPr>
      </p:sp>
      <p:sp>
        <p:nvSpPr>
          <p:cNvPr id="27" name="Text 24"/>
          <p:cNvSpPr txBox="1"/>
          <p:nvPr/>
        </p:nvSpPr>
        <p:spPr>
          <a:xfrm>
            <a:off x="3911986" y="1808226"/>
            <a:ext cx="1182868" cy="176022"/>
          </a:xfrm>
          <a:prstGeom prst="rect">
            <a:avLst/>
          </a:prstGeom>
          <a:noFill/>
          <a:ln/>
        </p:spPr>
        <p:txBody>
          <a:bodyPr wrap="square" lIns="0" tIns="0" rIns="0" bIns="0" rtlCol="0" anchor="t"/>
          <a:lstStyle/>
          <a:p>
            <a:pPr indent="0" marL="0">
              <a:buNone/>
            </a:pPr>
            <a:r>
              <a:rPr lang="en-US" sz="963" b="1" dirty="0">
                <a:solidFill>
                  <a:srgbClr val="2F5BD3"/>
                </a:solidFill>
                <a:latin typeface="Arial" pitchFamily="34" charset="0"/>
                <a:ea typeface="Arial" pitchFamily="34" charset="-122"/>
                <a:cs typeface="Arial" pitchFamily="34" charset="-120"/>
              </a:rPr>
              <a:t>Kagaz</a:t>
            </a:r>
            <a:endParaRPr lang="en-US" sz="963" dirty="0"/>
          </a:p>
        </p:txBody>
      </p:sp>
      <p:sp>
        <p:nvSpPr>
          <p:cNvPr id="28" name="Text 25"/>
          <p:cNvSpPr txBox="1"/>
          <p:nvPr/>
        </p:nvSpPr>
        <p:spPr>
          <a:xfrm>
            <a:off x="3911986" y="2064258"/>
            <a:ext cx="1182868" cy="208026"/>
          </a:xfrm>
          <a:prstGeom prst="rect">
            <a:avLst/>
          </a:prstGeom>
          <a:noFill/>
          <a:ln/>
        </p:spPr>
        <p:txBody>
          <a:bodyPr wrap="square" lIns="0" tIns="0" rIns="0" bIns="0" rtlCol="0" anchor="t"/>
          <a:lstStyle/>
          <a:p>
            <a:pPr indent="0" marL="0">
              <a:buNone/>
            </a:pPr>
            <a:r>
              <a:rPr lang="en-US" sz="875" b="1" dirty="0">
                <a:solidFill>
                  <a:srgbClr val="1F2937"/>
                </a:solidFill>
                <a:latin typeface="Arial" pitchFamily="34" charset="0"/>
                <a:ea typeface="Arial" pitchFamily="34" charset="-122"/>
                <a:cs typeface="Arial" pitchFamily="34" charset="-120"/>
              </a:rPr>
              <a:t>Passport</a:t>
            </a:r>
            <a:endParaRPr lang="en-US" sz="875" dirty="0"/>
          </a:p>
        </p:txBody>
      </p:sp>
      <p:sp>
        <p:nvSpPr>
          <p:cNvPr id="29" name="Text 26"/>
          <p:cNvSpPr txBox="1"/>
          <p:nvPr/>
        </p:nvSpPr>
        <p:spPr>
          <a:xfrm>
            <a:off x="3911986" y="2336292"/>
            <a:ext cx="1182868" cy="240030"/>
          </a:xfrm>
          <a:prstGeom prst="rect">
            <a:avLst/>
          </a:prstGeom>
          <a:noFill/>
          <a:ln/>
        </p:spPr>
        <p:txBody>
          <a:bodyPr wrap="square" lIns="0" tIns="0" rIns="0" bIns="0" rtlCol="0" anchor="t"/>
          <a:lstStyle/>
          <a:p>
            <a:pPr indent="0" marL="0">
              <a:buNone/>
            </a:pPr>
            <a:r>
              <a:rPr lang="en-US" sz="700" dirty="0">
                <a:solidFill>
                  <a:srgbClr val="1F2937"/>
                </a:solidFill>
                <a:latin typeface="Arial" pitchFamily="34" charset="0"/>
                <a:ea typeface="Arial" pitchFamily="34" charset="-122"/>
                <a:cs typeface="Arial" pitchFamily="34" charset="-120"/>
              </a:rPr>
              <a:t>First application or renewal?</a:t>
            </a:r>
            <a:endParaRPr lang="en-US" sz="700" dirty="0"/>
          </a:p>
        </p:txBody>
      </p:sp>
      <p:sp>
        <p:nvSpPr>
          <p:cNvPr id="30" name="Shape 27"/>
          <p:cNvSpPr/>
          <p:nvPr/>
        </p:nvSpPr>
        <p:spPr>
          <a:xfrm>
            <a:off x="3911986" y="2592324"/>
            <a:ext cx="559430" cy="240030"/>
          </a:xfrm>
          <a:prstGeom prst="roundRect">
            <a:avLst>
              <a:gd name="adj" fmla="val 50000"/>
            </a:avLst>
          </a:prstGeom>
          <a:solidFill>
            <a:srgbClr val="2F5BD3"/>
          </a:solidFill>
          <a:ln w="12700">
            <a:solidFill>
              <a:srgbClr val="2F5BD3"/>
            </a:solidFill>
            <a:prstDash val="solid"/>
          </a:ln>
        </p:spPr>
      </p:sp>
      <p:sp>
        <p:nvSpPr>
          <p:cNvPr id="31" name="Text 28"/>
          <p:cNvSpPr txBox="1"/>
          <p:nvPr/>
        </p:nvSpPr>
        <p:spPr>
          <a:xfrm>
            <a:off x="3911986" y="2592324"/>
            <a:ext cx="559430" cy="24003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First</a:t>
            </a:r>
            <a:endParaRPr lang="en-US" sz="700" dirty="0"/>
          </a:p>
        </p:txBody>
      </p:sp>
      <p:sp>
        <p:nvSpPr>
          <p:cNvPr id="32" name="Shape 29"/>
          <p:cNvSpPr/>
          <p:nvPr/>
        </p:nvSpPr>
        <p:spPr>
          <a:xfrm>
            <a:off x="4535424" y="2592324"/>
            <a:ext cx="559430" cy="240030"/>
          </a:xfrm>
          <a:prstGeom prst="roundRect">
            <a:avLst>
              <a:gd name="adj" fmla="val 50000"/>
            </a:avLst>
          </a:prstGeom>
          <a:solidFill>
            <a:srgbClr val="FFFFFF"/>
          </a:solidFill>
          <a:ln w="12700">
            <a:solidFill>
              <a:srgbClr val="D7DEEA"/>
            </a:solidFill>
            <a:prstDash val="solid"/>
          </a:ln>
        </p:spPr>
      </p:sp>
      <p:sp>
        <p:nvSpPr>
          <p:cNvPr id="33" name="Text 30"/>
          <p:cNvSpPr txBox="1"/>
          <p:nvPr/>
        </p:nvSpPr>
        <p:spPr>
          <a:xfrm>
            <a:off x="4535424" y="2592324"/>
            <a:ext cx="559430" cy="240030"/>
          </a:xfrm>
          <a:prstGeom prst="rect">
            <a:avLst/>
          </a:prstGeom>
          <a:noFill/>
          <a:ln/>
        </p:spPr>
        <p:txBody>
          <a:bodyPr wrap="square" lIns="0" tIns="0" rIns="0" bIns="0" rtlCol="0" anchor="ctr"/>
          <a:lstStyle/>
          <a:p>
            <a:pPr algn="ctr" indent="0" marL="0">
              <a:buNone/>
            </a:pPr>
            <a:r>
              <a:rPr lang="en-US" sz="700" dirty="0">
                <a:solidFill>
                  <a:srgbClr val="1F2937"/>
                </a:solidFill>
                <a:latin typeface="Arial" pitchFamily="34" charset="0"/>
                <a:ea typeface="Arial" pitchFamily="34" charset="-122"/>
                <a:cs typeface="Arial" pitchFamily="34" charset="-120"/>
              </a:rPr>
              <a:t>Renewal</a:t>
            </a:r>
            <a:endParaRPr lang="en-US" sz="700" dirty="0"/>
          </a:p>
        </p:txBody>
      </p:sp>
      <p:sp>
        <p:nvSpPr>
          <p:cNvPr id="34" name="Text 31"/>
          <p:cNvSpPr txBox="1"/>
          <p:nvPr/>
        </p:nvSpPr>
        <p:spPr>
          <a:xfrm>
            <a:off x="3911986" y="2960370"/>
            <a:ext cx="1182868" cy="240030"/>
          </a:xfrm>
          <a:prstGeom prst="rect">
            <a:avLst/>
          </a:prstGeom>
          <a:noFill/>
          <a:ln/>
        </p:spPr>
        <p:txBody>
          <a:bodyPr wrap="square" lIns="0" tIns="0" rIns="0" bIns="0" rtlCol="0" anchor="t"/>
          <a:lstStyle/>
          <a:p>
            <a:pPr indent="0" marL="0">
              <a:buNone/>
            </a:pPr>
            <a:r>
              <a:rPr lang="en-US" sz="700" dirty="0">
                <a:solidFill>
                  <a:srgbClr val="1F2937"/>
                </a:solidFill>
                <a:latin typeface="Arial" pitchFamily="34" charset="0"/>
                <a:ea typeface="Arial" pitchFamily="34" charset="-122"/>
                <a:cs typeface="Arial" pitchFamily="34" charset="-120"/>
              </a:rPr>
              <a:t>Applying for a minor?</a:t>
            </a:r>
            <a:endParaRPr lang="en-US" sz="700" dirty="0"/>
          </a:p>
        </p:txBody>
      </p:sp>
      <p:sp>
        <p:nvSpPr>
          <p:cNvPr id="35" name="Shape 32"/>
          <p:cNvSpPr/>
          <p:nvPr/>
        </p:nvSpPr>
        <p:spPr>
          <a:xfrm>
            <a:off x="3911986" y="3216402"/>
            <a:ext cx="559430" cy="240030"/>
          </a:xfrm>
          <a:prstGeom prst="roundRect">
            <a:avLst>
              <a:gd name="adj" fmla="val 50000"/>
            </a:avLst>
          </a:prstGeom>
          <a:solidFill>
            <a:srgbClr val="FFFFFF"/>
          </a:solidFill>
          <a:ln w="12700">
            <a:solidFill>
              <a:srgbClr val="D7DEEA"/>
            </a:solidFill>
            <a:prstDash val="solid"/>
          </a:ln>
        </p:spPr>
      </p:sp>
      <p:sp>
        <p:nvSpPr>
          <p:cNvPr id="36" name="Text 33"/>
          <p:cNvSpPr txBox="1"/>
          <p:nvPr/>
        </p:nvSpPr>
        <p:spPr>
          <a:xfrm>
            <a:off x="3911986" y="3216402"/>
            <a:ext cx="559430" cy="240030"/>
          </a:xfrm>
          <a:prstGeom prst="rect">
            <a:avLst/>
          </a:prstGeom>
          <a:noFill/>
          <a:ln/>
        </p:spPr>
        <p:txBody>
          <a:bodyPr wrap="square" lIns="0" tIns="0" rIns="0" bIns="0" rtlCol="0" anchor="ctr"/>
          <a:lstStyle/>
          <a:p>
            <a:pPr algn="ctr" indent="0" marL="0">
              <a:buNone/>
            </a:pPr>
            <a:r>
              <a:rPr lang="en-US" sz="700" dirty="0">
                <a:solidFill>
                  <a:srgbClr val="1F2937"/>
                </a:solidFill>
                <a:latin typeface="Arial" pitchFamily="34" charset="0"/>
                <a:ea typeface="Arial" pitchFamily="34" charset="-122"/>
                <a:cs typeface="Arial" pitchFamily="34" charset="-120"/>
              </a:rPr>
              <a:t>Yes</a:t>
            </a:r>
            <a:endParaRPr lang="en-US" sz="700" dirty="0"/>
          </a:p>
        </p:txBody>
      </p:sp>
      <p:sp>
        <p:nvSpPr>
          <p:cNvPr id="37" name="Shape 34"/>
          <p:cNvSpPr/>
          <p:nvPr/>
        </p:nvSpPr>
        <p:spPr>
          <a:xfrm>
            <a:off x="4535424" y="3216402"/>
            <a:ext cx="559430" cy="240030"/>
          </a:xfrm>
          <a:prstGeom prst="roundRect">
            <a:avLst>
              <a:gd name="adj" fmla="val 50000"/>
            </a:avLst>
          </a:prstGeom>
          <a:solidFill>
            <a:srgbClr val="2F5BD3"/>
          </a:solidFill>
          <a:ln w="12700">
            <a:solidFill>
              <a:srgbClr val="2F5BD3"/>
            </a:solidFill>
            <a:prstDash val="solid"/>
          </a:ln>
        </p:spPr>
      </p:sp>
      <p:sp>
        <p:nvSpPr>
          <p:cNvPr id="38" name="Text 35"/>
          <p:cNvSpPr txBox="1"/>
          <p:nvPr/>
        </p:nvSpPr>
        <p:spPr>
          <a:xfrm>
            <a:off x="4535424" y="3216402"/>
            <a:ext cx="559430" cy="24003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No</a:t>
            </a:r>
            <a:endParaRPr lang="en-US" sz="700" dirty="0"/>
          </a:p>
        </p:txBody>
      </p:sp>
      <p:sp>
        <p:nvSpPr>
          <p:cNvPr id="39" name="Text 36"/>
          <p:cNvSpPr txBox="1"/>
          <p:nvPr/>
        </p:nvSpPr>
        <p:spPr>
          <a:xfrm>
            <a:off x="3911986" y="3584448"/>
            <a:ext cx="1182868" cy="240030"/>
          </a:xfrm>
          <a:prstGeom prst="rect">
            <a:avLst/>
          </a:prstGeom>
          <a:noFill/>
          <a:ln/>
        </p:spPr>
        <p:txBody>
          <a:bodyPr wrap="square" lIns="0" tIns="0" rIns="0" bIns="0" rtlCol="0" anchor="t"/>
          <a:lstStyle/>
          <a:p>
            <a:pPr indent="0" marL="0">
              <a:buNone/>
            </a:pPr>
            <a:r>
              <a:rPr lang="en-US" sz="700" dirty="0">
                <a:solidFill>
                  <a:srgbClr val="1F2937"/>
                </a:solidFill>
                <a:latin typeface="Arial" pitchFamily="34" charset="0"/>
                <a:ea typeface="Arial" pitchFamily="34" charset="-122"/>
                <a:cs typeface="Arial" pitchFamily="34" charset="-120"/>
              </a:rPr>
              <a:t>Address changed?</a:t>
            </a:r>
            <a:endParaRPr lang="en-US" sz="700" dirty="0"/>
          </a:p>
        </p:txBody>
      </p:sp>
      <p:sp>
        <p:nvSpPr>
          <p:cNvPr id="40" name="Shape 37"/>
          <p:cNvSpPr/>
          <p:nvPr/>
        </p:nvSpPr>
        <p:spPr>
          <a:xfrm>
            <a:off x="3911986" y="3840480"/>
            <a:ext cx="559430" cy="240030"/>
          </a:xfrm>
          <a:prstGeom prst="roundRect">
            <a:avLst>
              <a:gd name="adj" fmla="val 50000"/>
            </a:avLst>
          </a:prstGeom>
          <a:solidFill>
            <a:srgbClr val="FFFFFF"/>
          </a:solidFill>
          <a:ln w="12700">
            <a:solidFill>
              <a:srgbClr val="D7DEEA"/>
            </a:solidFill>
            <a:prstDash val="solid"/>
          </a:ln>
        </p:spPr>
      </p:sp>
      <p:sp>
        <p:nvSpPr>
          <p:cNvPr id="41" name="Text 38"/>
          <p:cNvSpPr txBox="1"/>
          <p:nvPr/>
        </p:nvSpPr>
        <p:spPr>
          <a:xfrm>
            <a:off x="3911986" y="3840480"/>
            <a:ext cx="559430" cy="240030"/>
          </a:xfrm>
          <a:prstGeom prst="rect">
            <a:avLst/>
          </a:prstGeom>
          <a:noFill/>
          <a:ln/>
        </p:spPr>
        <p:txBody>
          <a:bodyPr wrap="square" lIns="0" tIns="0" rIns="0" bIns="0" rtlCol="0" anchor="ctr"/>
          <a:lstStyle/>
          <a:p>
            <a:pPr algn="ctr" indent="0" marL="0">
              <a:buNone/>
            </a:pPr>
            <a:r>
              <a:rPr lang="en-US" sz="700" dirty="0">
                <a:solidFill>
                  <a:srgbClr val="1F2937"/>
                </a:solidFill>
                <a:latin typeface="Arial" pitchFamily="34" charset="0"/>
                <a:ea typeface="Arial" pitchFamily="34" charset="-122"/>
                <a:cs typeface="Arial" pitchFamily="34" charset="-120"/>
              </a:rPr>
              <a:t>Yes</a:t>
            </a:r>
            <a:endParaRPr lang="en-US" sz="700" dirty="0"/>
          </a:p>
        </p:txBody>
      </p:sp>
      <p:sp>
        <p:nvSpPr>
          <p:cNvPr id="42" name="Shape 39"/>
          <p:cNvSpPr/>
          <p:nvPr/>
        </p:nvSpPr>
        <p:spPr>
          <a:xfrm>
            <a:off x="4535424" y="3840480"/>
            <a:ext cx="559430" cy="240030"/>
          </a:xfrm>
          <a:prstGeom prst="roundRect">
            <a:avLst>
              <a:gd name="adj" fmla="val 50000"/>
            </a:avLst>
          </a:prstGeom>
          <a:solidFill>
            <a:srgbClr val="2F5BD3"/>
          </a:solidFill>
          <a:ln w="12700">
            <a:solidFill>
              <a:srgbClr val="2F5BD3"/>
            </a:solidFill>
            <a:prstDash val="solid"/>
          </a:ln>
        </p:spPr>
      </p:sp>
      <p:sp>
        <p:nvSpPr>
          <p:cNvPr id="43" name="Text 40"/>
          <p:cNvSpPr txBox="1"/>
          <p:nvPr/>
        </p:nvSpPr>
        <p:spPr>
          <a:xfrm>
            <a:off x="4535424" y="3840480"/>
            <a:ext cx="559430" cy="240030"/>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No</a:t>
            </a:r>
            <a:endParaRPr lang="en-US" sz="700" dirty="0"/>
          </a:p>
        </p:txBody>
      </p:sp>
      <p:sp>
        <p:nvSpPr>
          <p:cNvPr id="44" name="Shape 41"/>
          <p:cNvSpPr/>
          <p:nvPr/>
        </p:nvSpPr>
        <p:spPr>
          <a:xfrm>
            <a:off x="3911986" y="4254246"/>
            <a:ext cx="1182868" cy="288036"/>
          </a:xfrm>
          <a:prstGeom prst="roundRect">
            <a:avLst>
              <a:gd name="adj" fmla="val 50000"/>
            </a:avLst>
          </a:prstGeom>
          <a:solidFill>
            <a:srgbClr val="2F5BD3"/>
          </a:solidFill>
          <a:ln w="12700">
            <a:solidFill>
              <a:srgbClr val="2F5BD3"/>
            </a:solidFill>
            <a:prstDash val="solid"/>
          </a:ln>
        </p:spPr>
      </p:sp>
      <p:sp>
        <p:nvSpPr>
          <p:cNvPr id="45" name="Text 42"/>
          <p:cNvSpPr txBox="1"/>
          <p:nvPr/>
        </p:nvSpPr>
        <p:spPr>
          <a:xfrm>
            <a:off x="3911986" y="4254246"/>
            <a:ext cx="1182868" cy="288036"/>
          </a:xfrm>
          <a:prstGeom prst="rect">
            <a:avLst/>
          </a:prstGeom>
          <a:noFill/>
          <a:ln/>
        </p:spPr>
        <p:txBody>
          <a:bodyPr wrap="square" lIns="0" tIns="0" rIns="0" bIns="0" rtlCol="0" anchor="ctr"/>
          <a:lstStyle/>
          <a:p>
            <a:pPr algn="ctr" indent="0" marL="0">
              <a:buNone/>
            </a:pPr>
            <a:r>
              <a:rPr lang="en-US" sz="744" b="1" dirty="0">
                <a:solidFill>
                  <a:srgbClr val="FFFFFF"/>
                </a:solidFill>
                <a:latin typeface="Arial" pitchFamily="34" charset="0"/>
                <a:ea typeface="Arial" pitchFamily="34" charset="-122"/>
                <a:cs typeface="Arial" pitchFamily="34" charset="-120"/>
              </a:rPr>
              <a:t>Show my checklist</a:t>
            </a:r>
            <a:endParaRPr lang="en-US" sz="744" dirty="0"/>
          </a:p>
        </p:txBody>
      </p:sp>
      <p:sp>
        <p:nvSpPr>
          <p:cNvPr id="46" name="Shape 43"/>
          <p:cNvSpPr/>
          <p:nvPr/>
        </p:nvSpPr>
        <p:spPr>
          <a:xfrm>
            <a:off x="6035040" y="1078992"/>
            <a:ext cx="347472" cy="347472"/>
          </a:xfrm>
          <a:prstGeom prst="ellipse">
            <a:avLst/>
          </a:prstGeom>
          <a:solidFill>
            <a:srgbClr val="2F5BD3"/>
          </a:solidFill>
          <a:ln w="12700">
            <a:solidFill>
              <a:srgbClr val="2F5BD3"/>
            </a:solidFill>
            <a:prstDash val="solid"/>
          </a:ln>
        </p:spPr>
      </p:sp>
      <p:sp>
        <p:nvSpPr>
          <p:cNvPr id="47" name="Text 44"/>
          <p:cNvSpPr txBox="1"/>
          <p:nvPr/>
        </p:nvSpPr>
        <p:spPr>
          <a:xfrm>
            <a:off x="6035040" y="107899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48" name="Text 45"/>
          <p:cNvSpPr txBox="1"/>
          <p:nvPr/>
        </p:nvSpPr>
        <p:spPr>
          <a:xfrm>
            <a:off x="6492240" y="1078992"/>
            <a:ext cx="2103120" cy="347472"/>
          </a:xfrm>
          <a:prstGeom prst="rect">
            <a:avLst/>
          </a:prstGeom>
          <a:noFill/>
          <a:ln/>
        </p:spPr>
        <p:txBody>
          <a:bodyPr wrap="square" lIns="0" tIns="0" rIns="0" bIns="0" rtlCol="0" anchor="ctr"/>
          <a:lstStyle/>
          <a:p>
            <a:pPr indent="0" marL="0">
              <a:buNone/>
            </a:pPr>
            <a:r>
              <a:rPr lang="en-US" sz="1300" b="1" dirty="0">
                <a:solidFill>
                  <a:srgbClr val="1F2937"/>
                </a:solidFill>
                <a:latin typeface="Arial" pitchFamily="34" charset="0"/>
                <a:ea typeface="Arial" pitchFamily="34" charset="-122"/>
                <a:cs typeface="Arial" pitchFamily="34" charset="-120"/>
              </a:rPr>
              <a:t>Get your checklist and share it</a:t>
            </a:r>
            <a:endParaRPr lang="en-US" sz="1300" dirty="0"/>
          </a:p>
        </p:txBody>
      </p:sp>
      <p:sp>
        <p:nvSpPr>
          <p:cNvPr id="49" name="Shape 46"/>
          <p:cNvSpPr/>
          <p:nvPr/>
        </p:nvSpPr>
        <p:spPr>
          <a:xfrm>
            <a:off x="6446520" y="1600200"/>
            <a:ext cx="1600200" cy="3246120"/>
          </a:xfrm>
          <a:prstGeom prst="roundRect">
            <a:avLst>
              <a:gd name="adj" fmla="val 14000"/>
            </a:avLst>
          </a:prstGeom>
          <a:solidFill>
            <a:srgbClr val="0B1224"/>
          </a:solidFill>
          <a:ln w="12700">
            <a:solidFill>
              <a:srgbClr val="3B4B70"/>
            </a:solidFill>
            <a:prstDash val="solid"/>
          </a:ln>
        </p:spPr>
      </p:sp>
      <p:sp>
        <p:nvSpPr>
          <p:cNvPr id="50" name="Shape 47"/>
          <p:cNvSpPr/>
          <p:nvPr/>
        </p:nvSpPr>
        <p:spPr>
          <a:xfrm>
            <a:off x="6542532" y="1696212"/>
            <a:ext cx="1408176" cy="3054096"/>
          </a:xfrm>
          <a:prstGeom prst="roundRect">
            <a:avLst>
              <a:gd name="adj" fmla="val 10000"/>
            </a:avLst>
          </a:prstGeom>
          <a:solidFill>
            <a:srgbClr val="FFFFFF"/>
          </a:solidFill>
          <a:ln w="12700">
            <a:solidFill>
              <a:srgbClr val="FFFFFF"/>
            </a:solidFill>
            <a:prstDash val="solid"/>
          </a:ln>
        </p:spPr>
      </p:sp>
      <p:sp>
        <p:nvSpPr>
          <p:cNvPr id="51" name="Text 48"/>
          <p:cNvSpPr txBox="1"/>
          <p:nvPr/>
        </p:nvSpPr>
        <p:spPr>
          <a:xfrm>
            <a:off x="6655186" y="1808226"/>
            <a:ext cx="1182868" cy="176022"/>
          </a:xfrm>
          <a:prstGeom prst="rect">
            <a:avLst/>
          </a:prstGeom>
          <a:noFill/>
          <a:ln/>
        </p:spPr>
        <p:txBody>
          <a:bodyPr wrap="square" lIns="0" tIns="0" rIns="0" bIns="0" rtlCol="0" anchor="t"/>
          <a:lstStyle/>
          <a:p>
            <a:pPr indent="0" marL="0">
              <a:buNone/>
            </a:pPr>
            <a:r>
              <a:rPr lang="en-US" sz="963" b="1" dirty="0">
                <a:solidFill>
                  <a:srgbClr val="2F5BD3"/>
                </a:solidFill>
                <a:latin typeface="Arial" pitchFamily="34" charset="0"/>
                <a:ea typeface="Arial" pitchFamily="34" charset="-122"/>
                <a:cs typeface="Arial" pitchFamily="34" charset="-120"/>
              </a:rPr>
              <a:t>Kagaz</a:t>
            </a:r>
            <a:endParaRPr lang="en-US" sz="963" dirty="0"/>
          </a:p>
        </p:txBody>
      </p:sp>
      <p:sp>
        <p:nvSpPr>
          <p:cNvPr id="52" name="Text 49"/>
          <p:cNvSpPr txBox="1"/>
          <p:nvPr/>
        </p:nvSpPr>
        <p:spPr>
          <a:xfrm>
            <a:off x="6655186" y="2064258"/>
            <a:ext cx="1182868" cy="208026"/>
          </a:xfrm>
          <a:prstGeom prst="rect">
            <a:avLst/>
          </a:prstGeom>
          <a:noFill/>
          <a:ln/>
        </p:spPr>
        <p:txBody>
          <a:bodyPr wrap="square" lIns="0" tIns="0" rIns="0" bIns="0" rtlCol="0" anchor="t"/>
          <a:lstStyle/>
          <a:p>
            <a:pPr indent="0" marL="0">
              <a:buNone/>
            </a:pPr>
            <a:r>
              <a:rPr lang="en-US" sz="831" b="1" dirty="0">
                <a:solidFill>
                  <a:srgbClr val="1F2937"/>
                </a:solidFill>
                <a:latin typeface="Arial" pitchFamily="34" charset="0"/>
                <a:ea typeface="Arial" pitchFamily="34" charset="-122"/>
                <a:cs typeface="Arial" pitchFamily="34" charset="-120"/>
              </a:rPr>
              <a:t>New passport</a:t>
            </a:r>
            <a:endParaRPr lang="en-US" sz="831" dirty="0"/>
          </a:p>
        </p:txBody>
      </p:sp>
      <p:sp>
        <p:nvSpPr>
          <p:cNvPr id="53" name="Text 50"/>
          <p:cNvSpPr txBox="1"/>
          <p:nvPr/>
        </p:nvSpPr>
        <p:spPr>
          <a:xfrm>
            <a:off x="6655186" y="2272284"/>
            <a:ext cx="1182868" cy="160020"/>
          </a:xfrm>
          <a:prstGeom prst="rect">
            <a:avLst/>
          </a:prstGeom>
          <a:noFill/>
          <a:ln/>
        </p:spPr>
        <p:txBody>
          <a:bodyPr wrap="square" lIns="0" tIns="0" rIns="0" bIns="0" rtlCol="0" anchor="t"/>
          <a:lstStyle/>
          <a:p>
            <a:pPr indent="0" marL="0">
              <a:buNone/>
            </a:pPr>
            <a:r>
              <a:rPr lang="en-US" sz="656" dirty="0">
                <a:solidFill>
                  <a:srgbClr val="5E6B7E"/>
                </a:solidFill>
                <a:latin typeface="Arial" pitchFamily="34" charset="0"/>
                <a:ea typeface="Arial" pitchFamily="34" charset="-122"/>
                <a:cs typeface="Arial" pitchFamily="34" charset="-120"/>
              </a:rPr>
              <a:t>5 documents to carry</a:t>
            </a:r>
            <a:endParaRPr lang="en-US" sz="656" dirty="0"/>
          </a:p>
        </p:txBody>
      </p:sp>
      <p:sp>
        <p:nvSpPr>
          <p:cNvPr id="54" name="Shape 51"/>
          <p:cNvSpPr/>
          <p:nvPr/>
        </p:nvSpPr>
        <p:spPr>
          <a:xfrm>
            <a:off x="6655186" y="2560320"/>
            <a:ext cx="176022" cy="176022"/>
          </a:xfrm>
          <a:prstGeom prst="ellipse">
            <a:avLst/>
          </a:prstGeom>
          <a:solidFill>
            <a:srgbClr val="18A06B"/>
          </a:solidFill>
          <a:ln w="12700">
            <a:solidFill>
              <a:srgbClr val="18A06B"/>
            </a:solidFill>
            <a:prstDash val="solid"/>
          </a:ln>
        </p:spPr>
      </p:sp>
      <p:pic>
        <p:nvPicPr>
          <p:cNvPr id="55" name="Image 1" descr="preencoded.png">    </p:cNvPr>
          <p:cNvPicPr>
            <a:picLocks noChangeAspect="1"/>
          </p:cNvPicPr>
          <p:nvPr/>
        </p:nvPicPr>
        <p:blipFill>
          <a:blip r:embed="rId2"/>
          <a:stretch>
            <a:fillRect/>
          </a:stretch>
        </p:blipFill>
        <p:spPr>
          <a:xfrm>
            <a:off x="6697431" y="2602565"/>
            <a:ext cx="91531" cy="91531"/>
          </a:xfrm>
          <a:prstGeom prst="rect">
            <a:avLst/>
          </a:prstGeom>
        </p:spPr>
      </p:pic>
      <p:sp>
        <p:nvSpPr>
          <p:cNvPr id="56" name="Text 52"/>
          <p:cNvSpPr txBox="1"/>
          <p:nvPr/>
        </p:nvSpPr>
        <p:spPr>
          <a:xfrm>
            <a:off x="6911218" y="2544318"/>
            <a:ext cx="926836" cy="208026"/>
          </a:xfrm>
          <a:prstGeom prst="rect">
            <a:avLst/>
          </a:prstGeom>
          <a:noFill/>
          <a:ln/>
        </p:spPr>
        <p:txBody>
          <a:bodyPr wrap="square" lIns="0" tIns="0" rIns="0" bIns="0" rtlCol="0" anchor="ctr"/>
          <a:lstStyle/>
          <a:p>
            <a:pPr indent="0" marL="0">
              <a:buNone/>
            </a:pPr>
            <a:r>
              <a:rPr lang="en-US" sz="700" dirty="0">
                <a:solidFill>
                  <a:srgbClr val="1F2937"/>
                </a:solidFill>
                <a:latin typeface="Arial" pitchFamily="34" charset="0"/>
                <a:ea typeface="Arial" pitchFamily="34" charset="-122"/>
                <a:cs typeface="Arial" pitchFamily="34" charset="-120"/>
              </a:rPr>
              <a:t>Proof of address</a:t>
            </a:r>
            <a:endParaRPr lang="en-US" sz="700" dirty="0"/>
          </a:p>
        </p:txBody>
      </p:sp>
      <p:sp>
        <p:nvSpPr>
          <p:cNvPr id="57" name="Shape 53"/>
          <p:cNvSpPr/>
          <p:nvPr/>
        </p:nvSpPr>
        <p:spPr>
          <a:xfrm>
            <a:off x="6655186" y="2880360"/>
            <a:ext cx="176022" cy="176022"/>
          </a:xfrm>
          <a:prstGeom prst="ellipse">
            <a:avLst/>
          </a:prstGeom>
          <a:solidFill>
            <a:srgbClr val="18A06B"/>
          </a:solidFill>
          <a:ln w="12700">
            <a:solidFill>
              <a:srgbClr val="18A06B"/>
            </a:solidFill>
            <a:prstDash val="solid"/>
          </a:ln>
        </p:spPr>
      </p:sp>
      <p:pic>
        <p:nvPicPr>
          <p:cNvPr id="58" name="Image 2" descr="preencoded.png">    </p:cNvPr>
          <p:cNvPicPr>
            <a:picLocks noChangeAspect="1"/>
          </p:cNvPicPr>
          <p:nvPr/>
        </p:nvPicPr>
        <p:blipFill>
          <a:blip r:embed="rId3"/>
          <a:stretch>
            <a:fillRect/>
          </a:stretch>
        </p:blipFill>
        <p:spPr>
          <a:xfrm>
            <a:off x="6697431" y="2922605"/>
            <a:ext cx="91531" cy="91531"/>
          </a:xfrm>
          <a:prstGeom prst="rect">
            <a:avLst/>
          </a:prstGeom>
        </p:spPr>
      </p:pic>
      <p:sp>
        <p:nvSpPr>
          <p:cNvPr id="59" name="Text 54"/>
          <p:cNvSpPr txBox="1"/>
          <p:nvPr/>
        </p:nvSpPr>
        <p:spPr>
          <a:xfrm>
            <a:off x="6911218" y="2864358"/>
            <a:ext cx="926836" cy="208026"/>
          </a:xfrm>
          <a:prstGeom prst="rect">
            <a:avLst/>
          </a:prstGeom>
          <a:noFill/>
          <a:ln/>
        </p:spPr>
        <p:txBody>
          <a:bodyPr wrap="square" lIns="0" tIns="0" rIns="0" bIns="0" rtlCol="0" anchor="ctr"/>
          <a:lstStyle/>
          <a:p>
            <a:pPr indent="0" marL="0">
              <a:buNone/>
            </a:pPr>
            <a:r>
              <a:rPr lang="en-US" sz="700" dirty="0">
                <a:solidFill>
                  <a:srgbClr val="1F2937"/>
                </a:solidFill>
                <a:latin typeface="Arial" pitchFamily="34" charset="0"/>
                <a:ea typeface="Arial" pitchFamily="34" charset="-122"/>
                <a:cs typeface="Arial" pitchFamily="34" charset="-120"/>
              </a:rPr>
              <a:t>Proof of date of birth</a:t>
            </a:r>
            <a:endParaRPr lang="en-US" sz="700" dirty="0"/>
          </a:p>
        </p:txBody>
      </p:sp>
      <p:sp>
        <p:nvSpPr>
          <p:cNvPr id="60" name="Shape 55"/>
          <p:cNvSpPr/>
          <p:nvPr/>
        </p:nvSpPr>
        <p:spPr>
          <a:xfrm>
            <a:off x="6655186" y="3200400"/>
            <a:ext cx="176022" cy="176022"/>
          </a:xfrm>
          <a:prstGeom prst="ellipse">
            <a:avLst/>
          </a:prstGeom>
          <a:solidFill>
            <a:srgbClr val="18A06B"/>
          </a:solidFill>
          <a:ln w="12700">
            <a:solidFill>
              <a:srgbClr val="18A06B"/>
            </a:solidFill>
            <a:prstDash val="solid"/>
          </a:ln>
        </p:spPr>
      </p:sp>
      <p:pic>
        <p:nvPicPr>
          <p:cNvPr id="61" name="Image 3" descr="preencoded.png">    </p:cNvPr>
          <p:cNvPicPr>
            <a:picLocks noChangeAspect="1"/>
          </p:cNvPicPr>
          <p:nvPr/>
        </p:nvPicPr>
        <p:blipFill>
          <a:blip r:embed="rId4"/>
          <a:stretch>
            <a:fillRect/>
          </a:stretch>
        </p:blipFill>
        <p:spPr>
          <a:xfrm>
            <a:off x="6697431" y="3242645"/>
            <a:ext cx="91531" cy="91531"/>
          </a:xfrm>
          <a:prstGeom prst="rect">
            <a:avLst/>
          </a:prstGeom>
        </p:spPr>
      </p:pic>
      <p:sp>
        <p:nvSpPr>
          <p:cNvPr id="62" name="Text 56"/>
          <p:cNvSpPr txBox="1"/>
          <p:nvPr/>
        </p:nvSpPr>
        <p:spPr>
          <a:xfrm>
            <a:off x="6911218" y="3184398"/>
            <a:ext cx="926836" cy="208026"/>
          </a:xfrm>
          <a:prstGeom prst="rect">
            <a:avLst/>
          </a:prstGeom>
          <a:noFill/>
          <a:ln/>
        </p:spPr>
        <p:txBody>
          <a:bodyPr wrap="square" lIns="0" tIns="0" rIns="0" bIns="0" rtlCol="0" anchor="ctr"/>
          <a:lstStyle/>
          <a:p>
            <a:pPr indent="0" marL="0">
              <a:buNone/>
            </a:pPr>
            <a:r>
              <a:rPr lang="en-US" sz="700" dirty="0">
                <a:solidFill>
                  <a:srgbClr val="1F2937"/>
                </a:solidFill>
                <a:latin typeface="Arial" pitchFamily="34" charset="0"/>
                <a:ea typeface="Arial" pitchFamily="34" charset="-122"/>
                <a:cs typeface="Arial" pitchFamily="34" charset="-120"/>
              </a:rPr>
              <a:t>Aadhaar card</a:t>
            </a:r>
            <a:endParaRPr lang="en-US" sz="700" dirty="0"/>
          </a:p>
        </p:txBody>
      </p:sp>
      <p:sp>
        <p:nvSpPr>
          <p:cNvPr id="63" name="Shape 57"/>
          <p:cNvSpPr/>
          <p:nvPr/>
        </p:nvSpPr>
        <p:spPr>
          <a:xfrm>
            <a:off x="6655186" y="3520440"/>
            <a:ext cx="176022" cy="176022"/>
          </a:xfrm>
          <a:prstGeom prst="ellipse">
            <a:avLst/>
          </a:prstGeom>
          <a:solidFill>
            <a:srgbClr val="18A06B"/>
          </a:solidFill>
          <a:ln w="12700">
            <a:solidFill>
              <a:srgbClr val="18A06B"/>
            </a:solidFill>
            <a:prstDash val="solid"/>
          </a:ln>
        </p:spPr>
      </p:sp>
      <p:pic>
        <p:nvPicPr>
          <p:cNvPr id="64" name="Image 4" descr="preencoded.png">    </p:cNvPr>
          <p:cNvPicPr>
            <a:picLocks noChangeAspect="1"/>
          </p:cNvPicPr>
          <p:nvPr/>
        </p:nvPicPr>
        <p:blipFill>
          <a:blip r:embed="rId5"/>
          <a:stretch>
            <a:fillRect/>
          </a:stretch>
        </p:blipFill>
        <p:spPr>
          <a:xfrm>
            <a:off x="6697431" y="3562685"/>
            <a:ext cx="91531" cy="91531"/>
          </a:xfrm>
          <a:prstGeom prst="rect">
            <a:avLst/>
          </a:prstGeom>
        </p:spPr>
      </p:pic>
      <p:sp>
        <p:nvSpPr>
          <p:cNvPr id="65" name="Text 58"/>
          <p:cNvSpPr txBox="1"/>
          <p:nvPr/>
        </p:nvSpPr>
        <p:spPr>
          <a:xfrm>
            <a:off x="6911218" y="3504438"/>
            <a:ext cx="926836" cy="208026"/>
          </a:xfrm>
          <a:prstGeom prst="rect">
            <a:avLst/>
          </a:prstGeom>
          <a:noFill/>
          <a:ln/>
        </p:spPr>
        <p:txBody>
          <a:bodyPr wrap="square" lIns="0" tIns="0" rIns="0" bIns="0" rtlCol="0" anchor="ctr"/>
          <a:lstStyle/>
          <a:p>
            <a:pPr indent="0" marL="0">
              <a:buNone/>
            </a:pPr>
            <a:r>
              <a:rPr lang="en-US" sz="700" dirty="0">
                <a:solidFill>
                  <a:srgbClr val="1F2937"/>
                </a:solidFill>
                <a:latin typeface="Arial" pitchFamily="34" charset="0"/>
                <a:ea typeface="Arial" pitchFamily="34" charset="-122"/>
                <a:cs typeface="Arial" pitchFamily="34" charset="-120"/>
              </a:rPr>
              <a:t>Old passport, if any</a:t>
            </a:r>
            <a:endParaRPr lang="en-US" sz="700" dirty="0"/>
          </a:p>
        </p:txBody>
      </p:sp>
      <p:sp>
        <p:nvSpPr>
          <p:cNvPr id="66" name="Shape 59"/>
          <p:cNvSpPr/>
          <p:nvPr/>
        </p:nvSpPr>
        <p:spPr>
          <a:xfrm>
            <a:off x="6655186" y="3840480"/>
            <a:ext cx="176022" cy="176022"/>
          </a:xfrm>
          <a:prstGeom prst="ellipse">
            <a:avLst/>
          </a:prstGeom>
          <a:solidFill>
            <a:srgbClr val="18A06B"/>
          </a:solidFill>
          <a:ln w="12700">
            <a:solidFill>
              <a:srgbClr val="18A06B"/>
            </a:solidFill>
            <a:prstDash val="solid"/>
          </a:ln>
        </p:spPr>
      </p:sp>
      <p:pic>
        <p:nvPicPr>
          <p:cNvPr id="67" name="Image 5" descr="preencoded.png">    </p:cNvPr>
          <p:cNvPicPr>
            <a:picLocks noChangeAspect="1"/>
          </p:cNvPicPr>
          <p:nvPr/>
        </p:nvPicPr>
        <p:blipFill>
          <a:blip r:embed="rId6"/>
          <a:stretch>
            <a:fillRect/>
          </a:stretch>
        </p:blipFill>
        <p:spPr>
          <a:xfrm>
            <a:off x="6697431" y="3882725"/>
            <a:ext cx="91531" cy="91531"/>
          </a:xfrm>
          <a:prstGeom prst="rect">
            <a:avLst/>
          </a:prstGeom>
        </p:spPr>
      </p:pic>
      <p:sp>
        <p:nvSpPr>
          <p:cNvPr id="68" name="Text 60"/>
          <p:cNvSpPr txBox="1"/>
          <p:nvPr/>
        </p:nvSpPr>
        <p:spPr>
          <a:xfrm>
            <a:off x="6911218" y="3824478"/>
            <a:ext cx="926836" cy="208026"/>
          </a:xfrm>
          <a:prstGeom prst="rect">
            <a:avLst/>
          </a:prstGeom>
          <a:noFill/>
          <a:ln/>
        </p:spPr>
        <p:txBody>
          <a:bodyPr wrap="square" lIns="0" tIns="0" rIns="0" bIns="0" rtlCol="0" anchor="ctr"/>
          <a:lstStyle/>
          <a:p>
            <a:pPr indent="0" marL="0">
              <a:buNone/>
            </a:pPr>
            <a:r>
              <a:rPr lang="en-US" sz="700" dirty="0">
                <a:solidFill>
                  <a:srgbClr val="1F2937"/>
                </a:solidFill>
                <a:latin typeface="Arial" pitchFamily="34" charset="0"/>
                <a:ea typeface="Arial" pitchFamily="34" charset="-122"/>
                <a:cs typeface="Arial" pitchFamily="34" charset="-120"/>
              </a:rPr>
              <a:t>Appointment slip</a:t>
            </a:r>
            <a:endParaRPr lang="en-US" sz="700" dirty="0"/>
          </a:p>
        </p:txBody>
      </p:sp>
      <p:sp>
        <p:nvSpPr>
          <p:cNvPr id="69" name="Shape 61"/>
          <p:cNvSpPr/>
          <p:nvPr/>
        </p:nvSpPr>
        <p:spPr>
          <a:xfrm>
            <a:off x="6655186" y="4254246"/>
            <a:ext cx="1182868" cy="288036"/>
          </a:xfrm>
          <a:prstGeom prst="roundRect">
            <a:avLst>
              <a:gd name="adj" fmla="val 50000"/>
            </a:avLst>
          </a:prstGeom>
          <a:solidFill>
            <a:srgbClr val="18A06B"/>
          </a:solidFill>
          <a:ln w="12700">
            <a:solidFill>
              <a:srgbClr val="18A06B"/>
            </a:solidFill>
            <a:prstDash val="solid"/>
          </a:ln>
        </p:spPr>
      </p:sp>
      <p:sp>
        <p:nvSpPr>
          <p:cNvPr id="70" name="Text 62"/>
          <p:cNvSpPr txBox="1"/>
          <p:nvPr/>
        </p:nvSpPr>
        <p:spPr>
          <a:xfrm>
            <a:off x="6655186" y="4254246"/>
            <a:ext cx="1182868" cy="288036"/>
          </a:xfrm>
          <a:prstGeom prst="rect">
            <a:avLst/>
          </a:prstGeom>
          <a:noFill/>
          <a:ln/>
        </p:spPr>
        <p:txBody>
          <a:bodyPr wrap="square" lIns="0" tIns="0" rIns="0" bIns="0" rtlCol="0" anchor="ctr"/>
          <a:lstStyle/>
          <a:p>
            <a:pPr algn="ctr" indent="0" marL="0">
              <a:buNone/>
            </a:pPr>
            <a:r>
              <a:rPr lang="en-US" sz="744" b="1" dirty="0">
                <a:solidFill>
                  <a:srgbClr val="FFFFFF"/>
                </a:solidFill>
                <a:latin typeface="Arial" pitchFamily="34" charset="0"/>
                <a:ea typeface="Arial" pitchFamily="34" charset="-122"/>
                <a:cs typeface="Arial" pitchFamily="34" charset="-120"/>
              </a:rPr>
              <a:t>Share on WhatsApp</a:t>
            </a:r>
            <a:endParaRPr lang="en-US" sz="744" dirty="0"/>
          </a:p>
        </p:txBody>
      </p:sp>
      <p:sp>
        <p:nvSpPr>
          <p:cNvPr id="71" name="Text 63"/>
          <p:cNvSpPr txBox="1"/>
          <p:nvPr/>
        </p:nvSpPr>
        <p:spPr>
          <a:xfrm>
            <a:off x="6655186" y="4566285"/>
            <a:ext cx="1182868" cy="128016"/>
          </a:xfrm>
          <a:prstGeom prst="rect">
            <a:avLst/>
          </a:prstGeom>
          <a:noFill/>
          <a:ln/>
        </p:spPr>
        <p:txBody>
          <a:bodyPr wrap="square" lIns="0" tIns="0" rIns="0" bIns="0" rtlCol="0" anchor="t"/>
          <a:lstStyle/>
          <a:p>
            <a:pPr algn="ctr" indent="0" marL="0">
              <a:buNone/>
            </a:pPr>
            <a:r>
              <a:rPr lang="en-US" sz="525" dirty="0">
                <a:solidFill>
                  <a:srgbClr val="5E6B7E"/>
                </a:solidFill>
                <a:latin typeface="Arial" pitchFamily="34" charset="0"/>
                <a:ea typeface="Arial" pitchFamily="34" charset="-122"/>
                <a:cs typeface="Arial" pitchFamily="34" charset="-120"/>
              </a:rPr>
              <a:t>Sample data</a:t>
            </a:r>
            <a:endParaRPr lang="en-US" sz="5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548640"/>
          </a:xfrm>
          <a:prstGeom prst="rect">
            <a:avLst/>
          </a:prstGeom>
          <a:noFill/>
          <a:ln/>
        </p:spPr>
        <p:txBody>
          <a:bodyPr wrap="square" lIns="0" tIns="0" rIns="0" bIns="0" rtlCol="0" anchor="t"/>
          <a:lstStyle/>
          <a:p>
            <a:pPr indent="0" marL="0">
              <a:buNone/>
            </a:pPr>
            <a:r>
              <a:rPr lang="en-US" sz="2800" b="1" dirty="0">
                <a:solidFill>
                  <a:srgbClr val="14213D"/>
                </a:solidFill>
                <a:latin typeface="Arial" pitchFamily="34" charset="0"/>
                <a:ea typeface="Arial" pitchFamily="34" charset="-122"/>
                <a:cs typeface="Arial" pitchFamily="34" charset="-120"/>
              </a:rPr>
              <a:t>Built in 48 hours with an AI app builder</a:t>
            </a:r>
            <a:endParaRPr lang="en-US" sz="2800" dirty="0"/>
          </a:p>
        </p:txBody>
      </p:sp>
      <p:sp>
        <p:nvSpPr>
          <p:cNvPr id="3" name="Text 1"/>
          <p:cNvSpPr txBox="1"/>
          <p:nvPr/>
        </p:nvSpPr>
        <p:spPr>
          <a:xfrm>
            <a:off x="548640" y="1234440"/>
            <a:ext cx="3840480" cy="320040"/>
          </a:xfrm>
          <a:prstGeom prst="rect">
            <a:avLst/>
          </a:prstGeom>
          <a:noFill/>
          <a:ln/>
        </p:spPr>
        <p:txBody>
          <a:bodyPr wrap="square" lIns="0" tIns="0" rIns="0" bIns="0" rtlCol="0" anchor="t"/>
          <a:lstStyle/>
          <a:p>
            <a:pPr indent="0" marL="0">
              <a:buNone/>
            </a:pPr>
            <a:r>
              <a:rPr lang="en-US" sz="1600" b="1" dirty="0">
                <a:solidFill>
                  <a:srgbClr val="1F2937"/>
                </a:solidFill>
                <a:latin typeface="Arial" pitchFamily="34" charset="0"/>
                <a:ea typeface="Arial" pitchFamily="34" charset="-122"/>
                <a:cs typeface="Arial" pitchFamily="34" charset="-120"/>
              </a:rPr>
              <a:t>Built with</a:t>
            </a:r>
            <a:endParaRPr lang="en-US" sz="1600" dirty="0"/>
          </a:p>
        </p:txBody>
      </p:sp>
      <p:sp>
        <p:nvSpPr>
          <p:cNvPr id="4" name="Shape 2"/>
          <p:cNvSpPr/>
          <p:nvPr/>
        </p:nvSpPr>
        <p:spPr>
          <a:xfrm>
            <a:off x="548640" y="1737360"/>
            <a:ext cx="457200" cy="457200"/>
          </a:xfrm>
          <a:prstGeom prst="ellipse">
            <a:avLst/>
          </a:prstGeom>
          <a:solidFill>
            <a:srgbClr val="2F5BD3"/>
          </a:solidFill>
          <a:ln w="12700">
            <a:solidFill>
              <a:srgbClr val="2F5BD3"/>
            </a:solidFill>
            <a:prstDash val="solid"/>
          </a:ln>
        </p:spPr>
      </p:sp>
      <p:pic>
        <p:nvPicPr>
          <p:cNvPr id="5" name="Image 0" descr="preencoded.png">    </p:cNvPr>
          <p:cNvPicPr>
            <a:picLocks noChangeAspect="1"/>
          </p:cNvPicPr>
          <p:nvPr/>
        </p:nvPicPr>
        <p:blipFill>
          <a:blip r:embed="rId1"/>
          <a:stretch>
            <a:fillRect/>
          </a:stretch>
        </p:blipFill>
        <p:spPr>
          <a:xfrm>
            <a:off x="672084" y="1860804"/>
            <a:ext cx="210312" cy="210312"/>
          </a:xfrm>
          <a:prstGeom prst="rect">
            <a:avLst/>
          </a:prstGeom>
        </p:spPr>
      </p:pic>
      <p:sp>
        <p:nvSpPr>
          <p:cNvPr id="6" name="Text 3"/>
          <p:cNvSpPr txBox="1"/>
          <p:nvPr/>
        </p:nvSpPr>
        <p:spPr>
          <a:xfrm>
            <a:off x="1188720" y="1719072"/>
            <a:ext cx="3108960" cy="274320"/>
          </a:xfrm>
          <a:prstGeom prst="rect">
            <a:avLst/>
          </a:prstGeom>
          <a:noFill/>
          <a:ln/>
        </p:spPr>
        <p:txBody>
          <a:bodyPr wrap="square" lIns="0" tIns="0" rIns="0" bIns="0" rtlCol="0" anchor="t"/>
          <a:lstStyle/>
          <a:p>
            <a:pPr indent="0" marL="0">
              <a:buNone/>
            </a:pPr>
            <a:r>
              <a:rPr lang="en-US" sz="1400" b="1" dirty="0">
                <a:solidFill>
                  <a:srgbClr val="1F2937"/>
                </a:solidFill>
                <a:latin typeface="Arial" pitchFamily="34" charset="0"/>
                <a:ea typeface="Arial" pitchFamily="34" charset="-122"/>
                <a:cs typeface="Arial" pitchFamily="34" charset="-120"/>
              </a:rPr>
              <a:t>Lovable</a:t>
            </a:r>
            <a:endParaRPr lang="en-US" sz="1400" dirty="0"/>
          </a:p>
        </p:txBody>
      </p:sp>
      <p:sp>
        <p:nvSpPr>
          <p:cNvPr id="7" name="Text 4"/>
          <p:cNvSpPr txBox="1"/>
          <p:nvPr/>
        </p:nvSpPr>
        <p:spPr>
          <a:xfrm>
            <a:off x="1188720" y="1993392"/>
            <a:ext cx="3108960" cy="502920"/>
          </a:xfrm>
          <a:prstGeom prst="rect">
            <a:avLst/>
          </a:prstGeom>
          <a:noFill/>
          <a:ln/>
        </p:spPr>
        <p:txBody>
          <a:bodyPr wrap="square" lIns="0" tIns="0" rIns="0" bIns="0" rtlCol="0" anchor="t"/>
          <a:lstStyle/>
          <a:p>
            <a:pPr indent="0" marL="0">
              <a:buNone/>
            </a:pPr>
            <a:r>
              <a:rPr lang="en-US" sz="1200" dirty="0">
                <a:solidFill>
                  <a:srgbClr val="5E6B7E"/>
                </a:solidFill>
                <a:latin typeface="Arial" pitchFamily="34" charset="0"/>
                <a:ea typeface="Arial" pitchFamily="34" charset="-122"/>
                <a:cs typeface="Arial" pitchFamily="34" charset="-120"/>
              </a:rPr>
              <a:t>AI app builder. It wrote most of the code from our prompts.</a:t>
            </a:r>
            <a:endParaRPr lang="en-US" sz="1200" dirty="0"/>
          </a:p>
        </p:txBody>
      </p:sp>
      <p:sp>
        <p:nvSpPr>
          <p:cNvPr id="8" name="Shape 5"/>
          <p:cNvSpPr/>
          <p:nvPr/>
        </p:nvSpPr>
        <p:spPr>
          <a:xfrm>
            <a:off x="548640" y="2651760"/>
            <a:ext cx="457200" cy="457200"/>
          </a:xfrm>
          <a:prstGeom prst="ellipse">
            <a:avLst/>
          </a:prstGeom>
          <a:solidFill>
            <a:srgbClr val="2F5BD3"/>
          </a:solidFill>
          <a:ln w="12700">
            <a:solidFill>
              <a:srgbClr val="2F5BD3"/>
            </a:solidFill>
            <a:prstDash val="solid"/>
          </a:ln>
        </p:spPr>
      </p:sp>
      <p:pic>
        <p:nvPicPr>
          <p:cNvPr id="9" name="Image 1" descr="preencoded.png">    </p:cNvPr>
          <p:cNvPicPr>
            <a:picLocks noChangeAspect="1"/>
          </p:cNvPicPr>
          <p:nvPr/>
        </p:nvPicPr>
        <p:blipFill>
          <a:blip r:embed="rId2"/>
          <a:stretch>
            <a:fillRect/>
          </a:stretch>
        </p:blipFill>
        <p:spPr>
          <a:xfrm>
            <a:off x="672084" y="2775204"/>
            <a:ext cx="210312" cy="210312"/>
          </a:xfrm>
          <a:prstGeom prst="rect">
            <a:avLst/>
          </a:prstGeom>
        </p:spPr>
      </p:pic>
      <p:sp>
        <p:nvSpPr>
          <p:cNvPr id="10" name="Text 6"/>
          <p:cNvSpPr txBox="1"/>
          <p:nvPr/>
        </p:nvSpPr>
        <p:spPr>
          <a:xfrm>
            <a:off x="1188720" y="2633472"/>
            <a:ext cx="3108960" cy="274320"/>
          </a:xfrm>
          <a:prstGeom prst="rect">
            <a:avLst/>
          </a:prstGeom>
          <a:noFill/>
          <a:ln/>
        </p:spPr>
        <p:txBody>
          <a:bodyPr wrap="square" lIns="0" tIns="0" rIns="0" bIns="0" rtlCol="0" anchor="t"/>
          <a:lstStyle/>
          <a:p>
            <a:pPr indent="0" marL="0">
              <a:buNone/>
            </a:pPr>
            <a:r>
              <a:rPr lang="en-US" sz="1400" b="1" dirty="0">
                <a:solidFill>
                  <a:srgbClr val="1F2937"/>
                </a:solidFill>
                <a:latin typeface="Arial" pitchFamily="34" charset="0"/>
                <a:ea typeface="Arial" pitchFamily="34" charset="-122"/>
                <a:cs typeface="Arial" pitchFamily="34" charset="-120"/>
              </a:rPr>
              <a:t>Lovable Cloud</a:t>
            </a:r>
            <a:endParaRPr lang="en-US" sz="1400" dirty="0"/>
          </a:p>
        </p:txBody>
      </p:sp>
      <p:sp>
        <p:nvSpPr>
          <p:cNvPr id="11" name="Text 7"/>
          <p:cNvSpPr txBox="1"/>
          <p:nvPr/>
        </p:nvSpPr>
        <p:spPr>
          <a:xfrm>
            <a:off x="1188720" y="2907792"/>
            <a:ext cx="3108960" cy="502920"/>
          </a:xfrm>
          <a:prstGeom prst="rect">
            <a:avLst/>
          </a:prstGeom>
          <a:noFill/>
          <a:ln/>
        </p:spPr>
        <p:txBody>
          <a:bodyPr wrap="square" lIns="0" tIns="0" rIns="0" bIns="0" rtlCol="0" anchor="t"/>
          <a:lstStyle/>
          <a:p>
            <a:pPr indent="0" marL="0">
              <a:buNone/>
            </a:pPr>
            <a:r>
              <a:rPr lang="en-US" sz="1200" dirty="0">
                <a:solidFill>
                  <a:srgbClr val="5E6B7E"/>
                </a:solidFill>
                <a:latin typeface="Arial" pitchFamily="34" charset="0"/>
                <a:ea typeface="Arial" pitchFamily="34" charset="-122"/>
                <a:cs typeface="Arial" pitchFamily="34" charset="-120"/>
              </a:rPr>
              <a:t>Stores the services, questions and checklists.</a:t>
            </a:r>
            <a:endParaRPr lang="en-US" sz="1200" dirty="0"/>
          </a:p>
        </p:txBody>
      </p:sp>
      <p:sp>
        <p:nvSpPr>
          <p:cNvPr id="12" name="Shape 8"/>
          <p:cNvSpPr/>
          <p:nvPr/>
        </p:nvSpPr>
        <p:spPr>
          <a:xfrm>
            <a:off x="548640" y="3566160"/>
            <a:ext cx="457200" cy="457200"/>
          </a:xfrm>
          <a:prstGeom prst="ellipse">
            <a:avLst/>
          </a:prstGeom>
          <a:solidFill>
            <a:srgbClr val="2F5BD3"/>
          </a:solidFill>
          <a:ln w="12700">
            <a:solidFill>
              <a:srgbClr val="2F5BD3"/>
            </a:solidFill>
            <a:prstDash val="solid"/>
          </a:ln>
        </p:spPr>
      </p:sp>
      <p:pic>
        <p:nvPicPr>
          <p:cNvPr id="13" name="Image 2" descr="preencoded.png">    </p:cNvPr>
          <p:cNvPicPr>
            <a:picLocks noChangeAspect="1"/>
          </p:cNvPicPr>
          <p:nvPr/>
        </p:nvPicPr>
        <p:blipFill>
          <a:blip r:embed="rId3"/>
          <a:stretch>
            <a:fillRect/>
          </a:stretch>
        </p:blipFill>
        <p:spPr>
          <a:xfrm>
            <a:off x="672084" y="3689604"/>
            <a:ext cx="210312" cy="210312"/>
          </a:xfrm>
          <a:prstGeom prst="rect">
            <a:avLst/>
          </a:prstGeom>
        </p:spPr>
      </p:pic>
      <p:sp>
        <p:nvSpPr>
          <p:cNvPr id="14" name="Text 9"/>
          <p:cNvSpPr txBox="1"/>
          <p:nvPr/>
        </p:nvSpPr>
        <p:spPr>
          <a:xfrm>
            <a:off x="1188720" y="3547872"/>
            <a:ext cx="3108960" cy="274320"/>
          </a:xfrm>
          <a:prstGeom prst="rect">
            <a:avLst/>
          </a:prstGeom>
          <a:noFill/>
          <a:ln/>
        </p:spPr>
        <p:txBody>
          <a:bodyPr wrap="square" lIns="0" tIns="0" rIns="0" bIns="0" rtlCol="0" anchor="t"/>
          <a:lstStyle/>
          <a:p>
            <a:pPr indent="0" marL="0">
              <a:buNone/>
            </a:pPr>
            <a:r>
              <a:rPr lang="en-US" sz="1400" b="1" dirty="0">
                <a:solidFill>
                  <a:srgbClr val="1F2937"/>
                </a:solidFill>
                <a:latin typeface="Arial" pitchFamily="34" charset="0"/>
                <a:ea typeface="Arial" pitchFamily="34" charset="-122"/>
                <a:cs typeface="Arial" pitchFamily="34" charset="-120"/>
              </a:rPr>
              <a:t>WhatsApp share link</a:t>
            </a:r>
            <a:endParaRPr lang="en-US" sz="1400" dirty="0"/>
          </a:p>
        </p:txBody>
      </p:sp>
      <p:sp>
        <p:nvSpPr>
          <p:cNvPr id="15" name="Text 10"/>
          <p:cNvSpPr txBox="1"/>
          <p:nvPr/>
        </p:nvSpPr>
        <p:spPr>
          <a:xfrm>
            <a:off x="1188720" y="3822192"/>
            <a:ext cx="3108960" cy="502920"/>
          </a:xfrm>
          <a:prstGeom prst="rect">
            <a:avLst/>
          </a:prstGeom>
          <a:noFill/>
          <a:ln/>
        </p:spPr>
        <p:txBody>
          <a:bodyPr wrap="square" lIns="0" tIns="0" rIns="0" bIns="0" rtlCol="0" anchor="t"/>
          <a:lstStyle/>
          <a:p>
            <a:pPr indent="0" marL="0">
              <a:buNone/>
            </a:pPr>
            <a:r>
              <a:rPr lang="en-US" sz="1200" dirty="0">
                <a:solidFill>
                  <a:srgbClr val="5E6B7E"/>
                </a:solidFill>
                <a:latin typeface="Arial" pitchFamily="34" charset="0"/>
                <a:ea typeface="Arial" pitchFamily="34" charset="-122"/>
                <a:cs typeface="Arial" pitchFamily="34" charset="-120"/>
              </a:rPr>
              <a:t>Sends the checklist as a ready-made message.</a:t>
            </a:r>
            <a:endParaRPr lang="en-US" sz="1200" dirty="0"/>
          </a:p>
        </p:txBody>
      </p:sp>
      <p:sp>
        <p:nvSpPr>
          <p:cNvPr id="16" name="Shape 11"/>
          <p:cNvSpPr/>
          <p:nvPr/>
        </p:nvSpPr>
        <p:spPr>
          <a:xfrm>
            <a:off x="4617720" y="1234440"/>
            <a:ext cx="1920240" cy="3383280"/>
          </a:xfrm>
          <a:prstGeom prst="roundRect">
            <a:avLst>
              <a:gd name="adj" fmla="val 7143"/>
            </a:avLst>
          </a:prstGeom>
          <a:solidFill>
            <a:srgbClr val="E8F6EF"/>
          </a:solidFill>
          <a:ln w="12700">
            <a:solidFill>
              <a:srgbClr val="E8F6EF"/>
            </a:solidFill>
            <a:prstDash val="solid"/>
          </a:ln>
        </p:spPr>
      </p:sp>
      <p:sp>
        <p:nvSpPr>
          <p:cNvPr id="17" name="Shape 12"/>
          <p:cNvSpPr/>
          <p:nvPr/>
        </p:nvSpPr>
        <p:spPr>
          <a:xfrm>
            <a:off x="4846320" y="1463040"/>
            <a:ext cx="420624" cy="420624"/>
          </a:xfrm>
          <a:prstGeom prst="ellipse">
            <a:avLst/>
          </a:prstGeom>
          <a:solidFill>
            <a:srgbClr val="18A06B"/>
          </a:solidFill>
          <a:ln w="12700">
            <a:solidFill>
              <a:srgbClr val="18A06B"/>
            </a:solidFill>
            <a:prstDash val="solid"/>
          </a:ln>
        </p:spPr>
      </p:sp>
      <p:pic>
        <p:nvPicPr>
          <p:cNvPr id="18" name="Image 3" descr="preencoded.png">    </p:cNvPr>
          <p:cNvPicPr>
            <a:picLocks noChangeAspect="1"/>
          </p:cNvPicPr>
          <p:nvPr/>
        </p:nvPicPr>
        <p:blipFill>
          <a:blip r:embed="rId4"/>
          <a:stretch>
            <a:fillRect/>
          </a:stretch>
        </p:blipFill>
        <p:spPr>
          <a:xfrm>
            <a:off x="4955682" y="1572402"/>
            <a:ext cx="201900" cy="201900"/>
          </a:xfrm>
          <a:prstGeom prst="rect">
            <a:avLst/>
          </a:prstGeom>
        </p:spPr>
      </p:pic>
      <p:sp>
        <p:nvSpPr>
          <p:cNvPr id="19" name="Text 13"/>
          <p:cNvSpPr txBox="1"/>
          <p:nvPr/>
        </p:nvSpPr>
        <p:spPr>
          <a:xfrm>
            <a:off x="4846320" y="2011680"/>
            <a:ext cx="1554480" cy="320040"/>
          </a:xfrm>
          <a:prstGeom prst="rect">
            <a:avLst/>
          </a:prstGeom>
          <a:noFill/>
          <a:ln/>
        </p:spPr>
        <p:txBody>
          <a:bodyPr wrap="square" lIns="0" tIns="0" rIns="0" bIns="0" rtlCol="0" anchor="t"/>
          <a:lstStyle/>
          <a:p>
            <a:pPr indent="0" marL="0">
              <a:buNone/>
            </a:pPr>
            <a:r>
              <a:rPr lang="en-US" sz="1600" b="1" dirty="0">
                <a:solidFill>
                  <a:srgbClr val="1F2937"/>
                </a:solidFill>
                <a:latin typeface="Arial" pitchFamily="34" charset="0"/>
                <a:ea typeface="Arial" pitchFamily="34" charset="-122"/>
                <a:cs typeface="Arial" pitchFamily="34" charset="-120"/>
              </a:rPr>
              <a:t>Real</a:t>
            </a:r>
            <a:endParaRPr lang="en-US" sz="1600" dirty="0"/>
          </a:p>
        </p:txBody>
      </p:sp>
      <p:sp>
        <p:nvSpPr>
          <p:cNvPr id="20" name="Shape 14"/>
          <p:cNvSpPr/>
          <p:nvPr/>
        </p:nvSpPr>
        <p:spPr>
          <a:xfrm>
            <a:off x="4846320" y="2532888"/>
            <a:ext cx="91440" cy="91440"/>
          </a:xfrm>
          <a:prstGeom prst="ellipse">
            <a:avLst/>
          </a:prstGeom>
          <a:solidFill>
            <a:srgbClr val="18A06B"/>
          </a:solidFill>
          <a:ln w="12700">
            <a:solidFill>
              <a:srgbClr val="18A06B"/>
            </a:solidFill>
            <a:prstDash val="solid"/>
          </a:ln>
        </p:spPr>
      </p:sp>
      <p:sp>
        <p:nvSpPr>
          <p:cNvPr id="21" name="Text 15"/>
          <p:cNvSpPr txBox="1"/>
          <p:nvPr/>
        </p:nvSpPr>
        <p:spPr>
          <a:xfrm>
            <a:off x="5029200" y="2468880"/>
            <a:ext cx="1371600" cy="475488"/>
          </a:xfrm>
          <a:prstGeom prst="rect">
            <a:avLst/>
          </a:prstGeom>
          <a:noFill/>
          <a:ln/>
        </p:spPr>
        <p:txBody>
          <a:bodyPr wrap="square" lIns="0" tIns="0" rIns="0" bIns="0" rtlCol="0" anchor="t"/>
          <a:lstStyle/>
          <a:p>
            <a:pPr indent="0" marL="0">
              <a:buNone/>
            </a:pPr>
            <a:r>
              <a:rPr lang="en-US" sz="1200" dirty="0">
                <a:solidFill>
                  <a:srgbClr val="1F2937"/>
                </a:solidFill>
                <a:latin typeface="Arial" pitchFamily="34" charset="0"/>
                <a:ea typeface="Arial" pitchFamily="34" charset="-122"/>
                <a:cs typeface="Arial" pitchFamily="34" charset="-120"/>
              </a:rPr>
              <a:t>Search and questions</a:t>
            </a:r>
            <a:endParaRPr lang="en-US" sz="1200" dirty="0"/>
          </a:p>
        </p:txBody>
      </p:sp>
      <p:sp>
        <p:nvSpPr>
          <p:cNvPr id="22" name="Shape 16"/>
          <p:cNvSpPr/>
          <p:nvPr/>
        </p:nvSpPr>
        <p:spPr>
          <a:xfrm>
            <a:off x="4846320" y="3063240"/>
            <a:ext cx="91440" cy="91440"/>
          </a:xfrm>
          <a:prstGeom prst="ellipse">
            <a:avLst/>
          </a:prstGeom>
          <a:solidFill>
            <a:srgbClr val="18A06B"/>
          </a:solidFill>
          <a:ln w="12700">
            <a:solidFill>
              <a:srgbClr val="18A06B"/>
            </a:solidFill>
            <a:prstDash val="solid"/>
          </a:ln>
        </p:spPr>
      </p:sp>
      <p:sp>
        <p:nvSpPr>
          <p:cNvPr id="23" name="Text 17"/>
          <p:cNvSpPr txBox="1"/>
          <p:nvPr/>
        </p:nvSpPr>
        <p:spPr>
          <a:xfrm>
            <a:off x="5029200" y="2999232"/>
            <a:ext cx="1371600" cy="475488"/>
          </a:xfrm>
          <a:prstGeom prst="rect">
            <a:avLst/>
          </a:prstGeom>
          <a:noFill/>
          <a:ln/>
        </p:spPr>
        <p:txBody>
          <a:bodyPr wrap="square" lIns="0" tIns="0" rIns="0" bIns="0" rtlCol="0" anchor="t"/>
          <a:lstStyle/>
          <a:p>
            <a:pPr indent="0" marL="0">
              <a:buNone/>
            </a:pPr>
            <a:r>
              <a:rPr lang="en-US" sz="1200" dirty="0">
                <a:solidFill>
                  <a:srgbClr val="1F2937"/>
                </a:solidFill>
                <a:latin typeface="Arial" pitchFamily="34" charset="0"/>
                <a:ea typeface="Arial" pitchFamily="34" charset="-122"/>
                <a:cs typeface="Arial" pitchFamily="34" charset="-120"/>
              </a:rPr>
              <a:t>Checklist per case</a:t>
            </a:r>
            <a:endParaRPr lang="en-US" sz="1200" dirty="0"/>
          </a:p>
        </p:txBody>
      </p:sp>
      <p:sp>
        <p:nvSpPr>
          <p:cNvPr id="24" name="Shape 18"/>
          <p:cNvSpPr/>
          <p:nvPr/>
        </p:nvSpPr>
        <p:spPr>
          <a:xfrm>
            <a:off x="4846320" y="3593592"/>
            <a:ext cx="91440" cy="91440"/>
          </a:xfrm>
          <a:prstGeom prst="ellipse">
            <a:avLst/>
          </a:prstGeom>
          <a:solidFill>
            <a:srgbClr val="18A06B"/>
          </a:solidFill>
          <a:ln w="12700">
            <a:solidFill>
              <a:srgbClr val="18A06B"/>
            </a:solidFill>
            <a:prstDash val="solid"/>
          </a:ln>
        </p:spPr>
      </p:sp>
      <p:sp>
        <p:nvSpPr>
          <p:cNvPr id="25" name="Text 19"/>
          <p:cNvSpPr txBox="1"/>
          <p:nvPr/>
        </p:nvSpPr>
        <p:spPr>
          <a:xfrm>
            <a:off x="5029200" y="3529584"/>
            <a:ext cx="1371600" cy="475488"/>
          </a:xfrm>
          <a:prstGeom prst="rect">
            <a:avLst/>
          </a:prstGeom>
          <a:noFill/>
          <a:ln/>
        </p:spPr>
        <p:txBody>
          <a:bodyPr wrap="square" lIns="0" tIns="0" rIns="0" bIns="0" rtlCol="0" anchor="t"/>
          <a:lstStyle/>
          <a:p>
            <a:pPr indent="0" marL="0">
              <a:buNone/>
            </a:pPr>
            <a:r>
              <a:rPr lang="en-US" sz="1200" dirty="0">
                <a:solidFill>
                  <a:srgbClr val="1F2937"/>
                </a:solidFill>
                <a:latin typeface="Arial" pitchFamily="34" charset="0"/>
                <a:ea typeface="Arial" pitchFamily="34" charset="-122"/>
                <a:cs typeface="Arial" pitchFamily="34" charset="-120"/>
              </a:rPr>
              <a:t>Saving a checklist</a:t>
            </a:r>
            <a:endParaRPr lang="en-US" sz="1200" dirty="0"/>
          </a:p>
        </p:txBody>
      </p:sp>
      <p:sp>
        <p:nvSpPr>
          <p:cNvPr id="26" name="Shape 20"/>
          <p:cNvSpPr/>
          <p:nvPr/>
        </p:nvSpPr>
        <p:spPr>
          <a:xfrm>
            <a:off x="4846320" y="4123944"/>
            <a:ext cx="91440" cy="91440"/>
          </a:xfrm>
          <a:prstGeom prst="ellipse">
            <a:avLst/>
          </a:prstGeom>
          <a:solidFill>
            <a:srgbClr val="18A06B"/>
          </a:solidFill>
          <a:ln w="12700">
            <a:solidFill>
              <a:srgbClr val="18A06B"/>
            </a:solidFill>
            <a:prstDash val="solid"/>
          </a:ln>
        </p:spPr>
      </p:sp>
      <p:sp>
        <p:nvSpPr>
          <p:cNvPr id="27" name="Text 21"/>
          <p:cNvSpPr txBox="1"/>
          <p:nvPr/>
        </p:nvSpPr>
        <p:spPr>
          <a:xfrm>
            <a:off x="5029200" y="4059936"/>
            <a:ext cx="1371600" cy="475488"/>
          </a:xfrm>
          <a:prstGeom prst="rect">
            <a:avLst/>
          </a:prstGeom>
          <a:noFill/>
          <a:ln/>
        </p:spPr>
        <p:txBody>
          <a:bodyPr wrap="square" lIns="0" tIns="0" rIns="0" bIns="0" rtlCol="0" anchor="t"/>
          <a:lstStyle/>
          <a:p>
            <a:pPr indent="0" marL="0">
              <a:buNone/>
            </a:pPr>
            <a:r>
              <a:rPr lang="en-US" sz="1200" dirty="0">
                <a:solidFill>
                  <a:srgbClr val="1F2937"/>
                </a:solidFill>
                <a:latin typeface="Arial" pitchFamily="34" charset="0"/>
                <a:ea typeface="Arial" pitchFamily="34" charset="-122"/>
                <a:cs typeface="Arial" pitchFamily="34" charset="-120"/>
              </a:rPr>
              <a:t>WhatsApp sharing</a:t>
            </a:r>
            <a:endParaRPr lang="en-US" sz="1200" dirty="0"/>
          </a:p>
        </p:txBody>
      </p:sp>
      <p:sp>
        <p:nvSpPr>
          <p:cNvPr id="28" name="Shape 22"/>
          <p:cNvSpPr/>
          <p:nvPr/>
        </p:nvSpPr>
        <p:spPr>
          <a:xfrm>
            <a:off x="6675120" y="1234440"/>
            <a:ext cx="1920240" cy="3383280"/>
          </a:xfrm>
          <a:prstGeom prst="roundRect">
            <a:avLst>
              <a:gd name="adj" fmla="val 7143"/>
            </a:avLst>
          </a:prstGeom>
          <a:solidFill>
            <a:srgbClr val="FDF3E3"/>
          </a:solidFill>
          <a:ln w="12700">
            <a:solidFill>
              <a:srgbClr val="FDF3E3"/>
            </a:solidFill>
            <a:prstDash val="solid"/>
          </a:ln>
        </p:spPr>
      </p:sp>
      <p:sp>
        <p:nvSpPr>
          <p:cNvPr id="29" name="Shape 23"/>
          <p:cNvSpPr/>
          <p:nvPr/>
        </p:nvSpPr>
        <p:spPr>
          <a:xfrm>
            <a:off x="6903720" y="1463040"/>
            <a:ext cx="420624" cy="420624"/>
          </a:xfrm>
          <a:prstGeom prst="ellipse">
            <a:avLst/>
          </a:prstGeom>
          <a:solidFill>
            <a:srgbClr val="F0A43A"/>
          </a:solidFill>
          <a:ln w="12700">
            <a:solidFill>
              <a:srgbClr val="F0A43A"/>
            </a:solidFill>
            <a:prstDash val="solid"/>
          </a:ln>
        </p:spPr>
      </p:sp>
      <p:pic>
        <p:nvPicPr>
          <p:cNvPr id="30" name="Image 4" descr="preencoded.png">    </p:cNvPr>
          <p:cNvPicPr>
            <a:picLocks noChangeAspect="1"/>
          </p:cNvPicPr>
          <p:nvPr/>
        </p:nvPicPr>
        <p:blipFill>
          <a:blip r:embed="rId5"/>
          <a:stretch>
            <a:fillRect/>
          </a:stretch>
        </p:blipFill>
        <p:spPr>
          <a:xfrm>
            <a:off x="7013082" y="1572402"/>
            <a:ext cx="201900" cy="201900"/>
          </a:xfrm>
          <a:prstGeom prst="rect">
            <a:avLst/>
          </a:prstGeom>
        </p:spPr>
      </p:pic>
      <p:sp>
        <p:nvSpPr>
          <p:cNvPr id="31" name="Text 24"/>
          <p:cNvSpPr txBox="1"/>
          <p:nvPr/>
        </p:nvSpPr>
        <p:spPr>
          <a:xfrm>
            <a:off x="6903720" y="2011680"/>
            <a:ext cx="1554480" cy="320040"/>
          </a:xfrm>
          <a:prstGeom prst="rect">
            <a:avLst/>
          </a:prstGeom>
          <a:noFill/>
          <a:ln/>
        </p:spPr>
        <p:txBody>
          <a:bodyPr wrap="square" lIns="0" tIns="0" rIns="0" bIns="0" rtlCol="0" anchor="t"/>
          <a:lstStyle/>
          <a:p>
            <a:pPr indent="0" marL="0">
              <a:buNone/>
            </a:pPr>
            <a:r>
              <a:rPr lang="en-US" sz="1600" b="1" dirty="0">
                <a:solidFill>
                  <a:srgbClr val="1F2937"/>
                </a:solidFill>
                <a:latin typeface="Arial" pitchFamily="34" charset="0"/>
                <a:ea typeface="Arial" pitchFamily="34" charset="-122"/>
                <a:cs typeface="Arial" pitchFamily="34" charset="-120"/>
              </a:rPr>
              <a:t>Simulated</a:t>
            </a:r>
            <a:endParaRPr lang="en-US" sz="1600" dirty="0"/>
          </a:p>
        </p:txBody>
      </p:sp>
      <p:sp>
        <p:nvSpPr>
          <p:cNvPr id="32" name="Shape 25"/>
          <p:cNvSpPr/>
          <p:nvPr/>
        </p:nvSpPr>
        <p:spPr>
          <a:xfrm>
            <a:off x="6903720" y="2532888"/>
            <a:ext cx="91440" cy="91440"/>
          </a:xfrm>
          <a:prstGeom prst="ellipse">
            <a:avLst/>
          </a:prstGeom>
          <a:solidFill>
            <a:srgbClr val="F0A43A"/>
          </a:solidFill>
          <a:ln w="12700">
            <a:solidFill>
              <a:srgbClr val="F0A43A"/>
            </a:solidFill>
            <a:prstDash val="solid"/>
          </a:ln>
        </p:spPr>
      </p:sp>
      <p:sp>
        <p:nvSpPr>
          <p:cNvPr id="33" name="Text 26"/>
          <p:cNvSpPr txBox="1"/>
          <p:nvPr/>
        </p:nvSpPr>
        <p:spPr>
          <a:xfrm>
            <a:off x="7086600" y="2468880"/>
            <a:ext cx="1371600" cy="475488"/>
          </a:xfrm>
          <a:prstGeom prst="rect">
            <a:avLst/>
          </a:prstGeom>
          <a:noFill/>
          <a:ln/>
        </p:spPr>
        <p:txBody>
          <a:bodyPr wrap="square" lIns="0" tIns="0" rIns="0" bIns="0" rtlCol="0" anchor="t"/>
          <a:lstStyle/>
          <a:p>
            <a:pPr indent="0" marL="0">
              <a:buNone/>
            </a:pPr>
            <a:r>
              <a:rPr lang="en-US" sz="1200" dirty="0">
                <a:solidFill>
                  <a:srgbClr val="1F2937"/>
                </a:solidFill>
                <a:latin typeface="Arial" pitchFamily="34" charset="0"/>
                <a:ea typeface="Arial" pitchFamily="34" charset="-122"/>
                <a:cs typeface="Arial" pitchFamily="34" charset="-120"/>
              </a:rPr>
              <a:t>Document lists are sample data</a:t>
            </a:r>
            <a:endParaRPr lang="en-US" sz="1200" dirty="0"/>
          </a:p>
        </p:txBody>
      </p:sp>
      <p:sp>
        <p:nvSpPr>
          <p:cNvPr id="34" name="Shape 27"/>
          <p:cNvSpPr/>
          <p:nvPr/>
        </p:nvSpPr>
        <p:spPr>
          <a:xfrm>
            <a:off x="6903720" y="3063240"/>
            <a:ext cx="91440" cy="91440"/>
          </a:xfrm>
          <a:prstGeom prst="ellipse">
            <a:avLst/>
          </a:prstGeom>
          <a:solidFill>
            <a:srgbClr val="F0A43A"/>
          </a:solidFill>
          <a:ln w="12700">
            <a:solidFill>
              <a:srgbClr val="F0A43A"/>
            </a:solidFill>
            <a:prstDash val="solid"/>
          </a:ln>
        </p:spPr>
      </p:sp>
      <p:sp>
        <p:nvSpPr>
          <p:cNvPr id="35" name="Text 28"/>
          <p:cNvSpPr txBox="1"/>
          <p:nvPr/>
        </p:nvSpPr>
        <p:spPr>
          <a:xfrm>
            <a:off x="7086600" y="2999232"/>
            <a:ext cx="1371600" cy="475488"/>
          </a:xfrm>
          <a:prstGeom prst="rect">
            <a:avLst/>
          </a:prstGeom>
          <a:noFill/>
          <a:ln/>
        </p:spPr>
        <p:txBody>
          <a:bodyPr wrap="square" lIns="0" tIns="0" rIns="0" bIns="0" rtlCol="0" anchor="t"/>
          <a:lstStyle/>
          <a:p>
            <a:pPr indent="0" marL="0">
              <a:buNone/>
            </a:pPr>
            <a:r>
              <a:rPr lang="en-US" sz="1200" dirty="0">
                <a:solidFill>
                  <a:srgbClr val="1F2937"/>
                </a:solidFill>
                <a:latin typeface="Arial" pitchFamily="34" charset="0"/>
                <a:ea typeface="Arial" pitchFamily="34" charset="-122"/>
                <a:cs typeface="Arial" pitchFamily="34" charset="-120"/>
              </a:rPr>
              <a:t>No sign-in: one example user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8046720" cy="548640"/>
          </a:xfrm>
          <a:prstGeom prst="rect">
            <a:avLst/>
          </a:prstGeom>
          <a:noFill/>
          <a:ln/>
        </p:spPr>
        <p:txBody>
          <a:bodyPr wrap="square" lIns="0" tIns="0" rIns="0" bIns="0" rtlCol="0" anchor="t"/>
          <a:lstStyle/>
          <a:p>
            <a:pPr indent="0" marL="0">
              <a:buNone/>
            </a:pPr>
            <a:r>
              <a:rPr lang="en-US" sz="2800" b="1" dirty="0">
                <a:solidFill>
                  <a:srgbClr val="14213D"/>
                </a:solidFill>
                <a:latin typeface="Arial" pitchFamily="34" charset="0"/>
                <a:ea typeface="Arial" pitchFamily="34" charset="-122"/>
                <a:cs typeface="Arial" pitchFamily="34" charset="-120"/>
              </a:rPr>
              <a:t>Who it helps, and what comes next</a:t>
            </a:r>
            <a:endParaRPr lang="en-US" sz="2800" dirty="0"/>
          </a:p>
        </p:txBody>
      </p:sp>
      <p:sp>
        <p:nvSpPr>
          <p:cNvPr id="3" name="Text 1"/>
          <p:cNvSpPr txBox="1"/>
          <p:nvPr/>
        </p:nvSpPr>
        <p:spPr>
          <a:xfrm>
            <a:off x="548640" y="1234440"/>
            <a:ext cx="4023360" cy="320040"/>
          </a:xfrm>
          <a:prstGeom prst="rect">
            <a:avLst/>
          </a:prstGeom>
          <a:noFill/>
          <a:ln/>
        </p:spPr>
        <p:txBody>
          <a:bodyPr wrap="square" lIns="0" tIns="0" rIns="0" bIns="0" rtlCol="0" anchor="t"/>
          <a:lstStyle/>
          <a:p>
            <a:pPr indent="0" marL="0">
              <a:buNone/>
            </a:pPr>
            <a:r>
              <a:rPr lang="en-US" sz="1600" b="1" dirty="0">
                <a:solidFill>
                  <a:srgbClr val="1F2937"/>
                </a:solidFill>
                <a:latin typeface="Arial" pitchFamily="34" charset="0"/>
                <a:ea typeface="Arial" pitchFamily="34" charset="-122"/>
                <a:cs typeface="Arial" pitchFamily="34" charset="-120"/>
              </a:rPr>
              <a:t>Who it helps</a:t>
            </a:r>
            <a:endParaRPr lang="en-US" sz="1600" dirty="0"/>
          </a:p>
        </p:txBody>
      </p:sp>
      <p:sp>
        <p:nvSpPr>
          <p:cNvPr id="4" name="Shape 2"/>
          <p:cNvSpPr/>
          <p:nvPr/>
        </p:nvSpPr>
        <p:spPr>
          <a:xfrm>
            <a:off x="548640" y="1737360"/>
            <a:ext cx="457200" cy="457200"/>
          </a:xfrm>
          <a:prstGeom prst="ellipse">
            <a:avLst/>
          </a:prstGeom>
          <a:solidFill>
            <a:srgbClr val="2F5BD3"/>
          </a:solidFill>
          <a:ln w="12700">
            <a:solidFill>
              <a:srgbClr val="2F5BD3"/>
            </a:solidFill>
            <a:prstDash val="solid"/>
          </a:ln>
        </p:spPr>
      </p:sp>
      <p:pic>
        <p:nvPicPr>
          <p:cNvPr id="5" name="Image 0" descr="preencoded.png">    </p:cNvPr>
          <p:cNvPicPr>
            <a:picLocks noChangeAspect="1"/>
          </p:cNvPicPr>
          <p:nvPr/>
        </p:nvPicPr>
        <p:blipFill>
          <a:blip r:embed="rId1"/>
          <a:stretch>
            <a:fillRect/>
          </a:stretch>
        </p:blipFill>
        <p:spPr>
          <a:xfrm>
            <a:off x="662940" y="1851660"/>
            <a:ext cx="228600" cy="228600"/>
          </a:xfrm>
          <a:prstGeom prst="rect">
            <a:avLst/>
          </a:prstGeom>
        </p:spPr>
      </p:pic>
      <p:sp>
        <p:nvSpPr>
          <p:cNvPr id="6" name="Text 3"/>
          <p:cNvSpPr txBox="1"/>
          <p:nvPr/>
        </p:nvSpPr>
        <p:spPr>
          <a:xfrm>
            <a:off x="1188720" y="1719072"/>
            <a:ext cx="3383280" cy="274320"/>
          </a:xfrm>
          <a:prstGeom prst="rect">
            <a:avLst/>
          </a:prstGeom>
          <a:noFill/>
          <a:ln/>
        </p:spPr>
        <p:txBody>
          <a:bodyPr wrap="square" lIns="0" tIns="0" rIns="0" bIns="0" rtlCol="0" anchor="t"/>
          <a:lstStyle/>
          <a:p>
            <a:pPr indent="0" marL="0">
              <a:buNone/>
            </a:pPr>
            <a:r>
              <a:rPr lang="en-US" sz="1400" b="1" dirty="0">
                <a:solidFill>
                  <a:srgbClr val="1F2937"/>
                </a:solidFill>
                <a:latin typeface="Arial" pitchFamily="34" charset="0"/>
                <a:ea typeface="Arial" pitchFamily="34" charset="-122"/>
                <a:cs typeface="Arial" pitchFamily="34" charset="-120"/>
              </a:rPr>
              <a:t>First-time applicants</a:t>
            </a:r>
            <a:endParaRPr lang="en-US" sz="1400" dirty="0"/>
          </a:p>
        </p:txBody>
      </p:sp>
      <p:sp>
        <p:nvSpPr>
          <p:cNvPr id="7" name="Text 4"/>
          <p:cNvSpPr txBox="1"/>
          <p:nvPr/>
        </p:nvSpPr>
        <p:spPr>
          <a:xfrm>
            <a:off x="1188720" y="1993392"/>
            <a:ext cx="3383280" cy="548640"/>
          </a:xfrm>
          <a:prstGeom prst="rect">
            <a:avLst/>
          </a:prstGeom>
          <a:noFill/>
          <a:ln/>
        </p:spPr>
        <p:txBody>
          <a:bodyPr wrap="square" lIns="0" tIns="0" rIns="0" bIns="0" rtlCol="0" anchor="t"/>
          <a:lstStyle/>
          <a:p>
            <a:pPr indent="0" marL="0">
              <a:buNone/>
            </a:pPr>
            <a:r>
              <a:rPr lang="en-US" sz="1200" dirty="0">
                <a:solidFill>
                  <a:srgbClr val="5E6B7E"/>
                </a:solidFill>
                <a:latin typeface="Arial" pitchFamily="34" charset="0"/>
                <a:ea typeface="Arial" pitchFamily="34" charset="-122"/>
                <a:cs typeface="Arial" pitchFamily="34" charset="-120"/>
              </a:rPr>
              <a:t>Students and young workers applying for their first passport, licence or certificate.</a:t>
            </a:r>
            <a:endParaRPr lang="en-US" sz="1200" dirty="0"/>
          </a:p>
        </p:txBody>
      </p:sp>
      <p:sp>
        <p:nvSpPr>
          <p:cNvPr id="8" name="Shape 5"/>
          <p:cNvSpPr/>
          <p:nvPr/>
        </p:nvSpPr>
        <p:spPr>
          <a:xfrm>
            <a:off x="548640" y="2651760"/>
            <a:ext cx="457200" cy="457200"/>
          </a:xfrm>
          <a:prstGeom prst="ellipse">
            <a:avLst/>
          </a:prstGeom>
          <a:solidFill>
            <a:srgbClr val="2F5BD3"/>
          </a:solidFill>
          <a:ln w="12700">
            <a:solidFill>
              <a:srgbClr val="2F5BD3"/>
            </a:solidFill>
            <a:prstDash val="solid"/>
          </a:ln>
        </p:spPr>
      </p:sp>
      <p:pic>
        <p:nvPicPr>
          <p:cNvPr id="9" name="Image 1" descr="preencoded.png">    </p:cNvPr>
          <p:cNvPicPr>
            <a:picLocks noChangeAspect="1"/>
          </p:cNvPicPr>
          <p:nvPr/>
        </p:nvPicPr>
        <p:blipFill>
          <a:blip r:embed="rId2"/>
          <a:stretch>
            <a:fillRect/>
          </a:stretch>
        </p:blipFill>
        <p:spPr>
          <a:xfrm>
            <a:off x="662940" y="2766060"/>
            <a:ext cx="228600" cy="228600"/>
          </a:xfrm>
          <a:prstGeom prst="rect">
            <a:avLst/>
          </a:prstGeom>
        </p:spPr>
      </p:pic>
      <p:sp>
        <p:nvSpPr>
          <p:cNvPr id="10" name="Text 6"/>
          <p:cNvSpPr txBox="1"/>
          <p:nvPr/>
        </p:nvSpPr>
        <p:spPr>
          <a:xfrm>
            <a:off x="1188720" y="2633472"/>
            <a:ext cx="3383280" cy="274320"/>
          </a:xfrm>
          <a:prstGeom prst="rect">
            <a:avLst/>
          </a:prstGeom>
          <a:noFill/>
          <a:ln/>
        </p:spPr>
        <p:txBody>
          <a:bodyPr wrap="square" lIns="0" tIns="0" rIns="0" bIns="0" rtlCol="0" anchor="t"/>
          <a:lstStyle/>
          <a:p>
            <a:pPr indent="0" marL="0">
              <a:buNone/>
            </a:pPr>
            <a:r>
              <a:rPr lang="en-US" sz="1400" b="1" dirty="0">
                <a:solidFill>
                  <a:srgbClr val="1F2937"/>
                </a:solidFill>
                <a:latin typeface="Arial" pitchFamily="34" charset="0"/>
                <a:ea typeface="Arial" pitchFamily="34" charset="-122"/>
                <a:cs typeface="Arial" pitchFamily="34" charset="-120"/>
              </a:rPr>
              <a:t>Parents and elders</a:t>
            </a:r>
            <a:endParaRPr lang="en-US" sz="1400" dirty="0"/>
          </a:p>
        </p:txBody>
      </p:sp>
      <p:sp>
        <p:nvSpPr>
          <p:cNvPr id="11" name="Text 7"/>
          <p:cNvSpPr txBox="1"/>
          <p:nvPr/>
        </p:nvSpPr>
        <p:spPr>
          <a:xfrm>
            <a:off x="1188720" y="2907792"/>
            <a:ext cx="3383280" cy="548640"/>
          </a:xfrm>
          <a:prstGeom prst="rect">
            <a:avLst/>
          </a:prstGeom>
          <a:noFill/>
          <a:ln/>
        </p:spPr>
        <p:txBody>
          <a:bodyPr wrap="square" lIns="0" tIns="0" rIns="0" bIns="0" rtlCol="0" anchor="t"/>
          <a:lstStyle/>
          <a:p>
            <a:pPr indent="0" marL="0">
              <a:buNone/>
            </a:pPr>
            <a:r>
              <a:rPr lang="en-US" sz="1200" dirty="0">
                <a:solidFill>
                  <a:srgbClr val="5E6B7E"/>
                </a:solidFill>
                <a:latin typeface="Arial" pitchFamily="34" charset="0"/>
                <a:ea typeface="Arial" pitchFamily="34" charset="-122"/>
                <a:cs typeface="Arial" pitchFamily="34" charset="-120"/>
              </a:rPr>
              <a:t>Who apply rarely, and are the most likely to be sent back.</a:t>
            </a:r>
            <a:endParaRPr lang="en-US" sz="1200" dirty="0"/>
          </a:p>
        </p:txBody>
      </p:sp>
      <p:sp>
        <p:nvSpPr>
          <p:cNvPr id="12" name="Shape 8"/>
          <p:cNvSpPr/>
          <p:nvPr/>
        </p:nvSpPr>
        <p:spPr>
          <a:xfrm>
            <a:off x="548640" y="3566160"/>
            <a:ext cx="457200" cy="457200"/>
          </a:xfrm>
          <a:prstGeom prst="ellipse">
            <a:avLst/>
          </a:prstGeom>
          <a:solidFill>
            <a:srgbClr val="2F5BD3"/>
          </a:solidFill>
          <a:ln w="12700">
            <a:solidFill>
              <a:srgbClr val="2F5BD3"/>
            </a:solidFill>
            <a:prstDash val="solid"/>
          </a:ln>
        </p:spPr>
      </p:sp>
      <p:pic>
        <p:nvPicPr>
          <p:cNvPr id="13" name="Image 2" descr="preencoded.png">    </p:cNvPr>
          <p:cNvPicPr>
            <a:picLocks noChangeAspect="1"/>
          </p:cNvPicPr>
          <p:nvPr/>
        </p:nvPicPr>
        <p:blipFill>
          <a:blip r:embed="rId3"/>
          <a:stretch>
            <a:fillRect/>
          </a:stretch>
        </p:blipFill>
        <p:spPr>
          <a:xfrm>
            <a:off x="662940" y="3680460"/>
            <a:ext cx="228600" cy="228600"/>
          </a:xfrm>
          <a:prstGeom prst="rect">
            <a:avLst/>
          </a:prstGeom>
        </p:spPr>
      </p:pic>
      <p:sp>
        <p:nvSpPr>
          <p:cNvPr id="14" name="Text 9"/>
          <p:cNvSpPr txBox="1"/>
          <p:nvPr/>
        </p:nvSpPr>
        <p:spPr>
          <a:xfrm>
            <a:off x="1188720" y="3547872"/>
            <a:ext cx="3383280" cy="274320"/>
          </a:xfrm>
          <a:prstGeom prst="rect">
            <a:avLst/>
          </a:prstGeom>
          <a:noFill/>
          <a:ln/>
        </p:spPr>
        <p:txBody>
          <a:bodyPr wrap="square" lIns="0" tIns="0" rIns="0" bIns="0" rtlCol="0" anchor="t"/>
          <a:lstStyle/>
          <a:p>
            <a:pPr indent="0" marL="0">
              <a:buNone/>
            </a:pPr>
            <a:r>
              <a:rPr lang="en-US" sz="1400" b="1" dirty="0">
                <a:solidFill>
                  <a:srgbClr val="1F2937"/>
                </a:solidFill>
                <a:latin typeface="Arial" pitchFamily="34" charset="0"/>
                <a:ea typeface="Arial" pitchFamily="34" charset="-122"/>
                <a:cs typeface="Arial" pitchFamily="34" charset="-120"/>
              </a:rPr>
              <a:t>Help desks and cyber cafés</a:t>
            </a:r>
            <a:endParaRPr lang="en-US" sz="1400" dirty="0"/>
          </a:p>
        </p:txBody>
      </p:sp>
      <p:sp>
        <p:nvSpPr>
          <p:cNvPr id="15" name="Text 10"/>
          <p:cNvSpPr txBox="1"/>
          <p:nvPr/>
        </p:nvSpPr>
        <p:spPr>
          <a:xfrm>
            <a:off x="1188720" y="3822192"/>
            <a:ext cx="3383280" cy="548640"/>
          </a:xfrm>
          <a:prstGeom prst="rect">
            <a:avLst/>
          </a:prstGeom>
          <a:noFill/>
          <a:ln/>
        </p:spPr>
        <p:txBody>
          <a:bodyPr wrap="square" lIns="0" tIns="0" rIns="0" bIns="0" rtlCol="0" anchor="t"/>
          <a:lstStyle/>
          <a:p>
            <a:pPr indent="0" marL="0">
              <a:buNone/>
            </a:pPr>
            <a:r>
              <a:rPr lang="en-US" sz="1200" dirty="0">
                <a:solidFill>
                  <a:srgbClr val="5E6B7E"/>
                </a:solidFill>
                <a:latin typeface="Arial" pitchFamily="34" charset="0"/>
                <a:ea typeface="Arial" pitchFamily="34" charset="-122"/>
                <a:cs typeface="Arial" pitchFamily="34" charset="-120"/>
              </a:rPr>
              <a:t>Who fill in forms for other people every day.</a:t>
            </a:r>
            <a:endParaRPr lang="en-US" sz="1200" dirty="0"/>
          </a:p>
        </p:txBody>
      </p:sp>
      <p:sp>
        <p:nvSpPr>
          <p:cNvPr id="16" name="Shape 11"/>
          <p:cNvSpPr/>
          <p:nvPr/>
        </p:nvSpPr>
        <p:spPr>
          <a:xfrm>
            <a:off x="4937760" y="1234440"/>
            <a:ext cx="3657600" cy="3383280"/>
          </a:xfrm>
          <a:prstGeom prst="roundRect">
            <a:avLst>
              <a:gd name="adj" fmla="val 4054"/>
            </a:avLst>
          </a:prstGeom>
          <a:solidFill>
            <a:srgbClr val="14213D"/>
          </a:solidFill>
          <a:ln w="12700">
            <a:solidFill>
              <a:srgbClr val="14213D"/>
            </a:solidFill>
            <a:prstDash val="solid"/>
          </a:ln>
        </p:spPr>
      </p:sp>
      <p:sp>
        <p:nvSpPr>
          <p:cNvPr id="17" name="Text 12"/>
          <p:cNvSpPr txBox="1"/>
          <p:nvPr/>
        </p:nvSpPr>
        <p:spPr>
          <a:xfrm>
            <a:off x="5212080" y="1463040"/>
            <a:ext cx="3200400" cy="32004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What we would build next</a:t>
            </a:r>
            <a:endParaRPr lang="en-US" sz="1600" dirty="0"/>
          </a:p>
        </p:txBody>
      </p:sp>
      <p:sp>
        <p:nvSpPr>
          <p:cNvPr id="18" name="Shape 13"/>
          <p:cNvSpPr/>
          <p:nvPr/>
        </p:nvSpPr>
        <p:spPr>
          <a:xfrm>
            <a:off x="5212080" y="2057400"/>
            <a:ext cx="365760" cy="365760"/>
          </a:xfrm>
          <a:prstGeom prst="ellipse">
            <a:avLst/>
          </a:prstGeom>
          <a:solidFill>
            <a:srgbClr val="F0A43A"/>
          </a:solidFill>
          <a:ln w="12700">
            <a:solidFill>
              <a:srgbClr val="F0A43A"/>
            </a:solidFill>
            <a:prstDash val="solid"/>
          </a:ln>
        </p:spPr>
      </p:sp>
      <p:sp>
        <p:nvSpPr>
          <p:cNvPr id="19" name="Text 14"/>
          <p:cNvSpPr txBox="1"/>
          <p:nvPr/>
        </p:nvSpPr>
        <p:spPr>
          <a:xfrm>
            <a:off x="5212080" y="20574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20" name="Text 15"/>
          <p:cNvSpPr txBox="1"/>
          <p:nvPr/>
        </p:nvSpPr>
        <p:spPr>
          <a:xfrm>
            <a:off x="5760720" y="2039112"/>
            <a:ext cx="2606040" cy="68580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Verified lists from official sources, state by state</a:t>
            </a:r>
            <a:endParaRPr lang="en-US" sz="1300" dirty="0"/>
          </a:p>
        </p:txBody>
      </p:sp>
      <p:sp>
        <p:nvSpPr>
          <p:cNvPr id="21" name="Shape 16"/>
          <p:cNvSpPr/>
          <p:nvPr/>
        </p:nvSpPr>
        <p:spPr>
          <a:xfrm>
            <a:off x="5212080" y="2880360"/>
            <a:ext cx="365760" cy="365760"/>
          </a:xfrm>
          <a:prstGeom prst="ellipse">
            <a:avLst/>
          </a:prstGeom>
          <a:solidFill>
            <a:srgbClr val="F0A43A"/>
          </a:solidFill>
          <a:ln w="12700">
            <a:solidFill>
              <a:srgbClr val="F0A43A"/>
            </a:solidFill>
            <a:prstDash val="solid"/>
          </a:ln>
        </p:spPr>
      </p:sp>
      <p:sp>
        <p:nvSpPr>
          <p:cNvPr id="22" name="Text 17"/>
          <p:cNvSpPr txBox="1"/>
          <p:nvPr/>
        </p:nvSpPr>
        <p:spPr>
          <a:xfrm>
            <a:off x="5212080" y="28803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23" name="Text 18"/>
          <p:cNvSpPr txBox="1"/>
          <p:nvPr/>
        </p:nvSpPr>
        <p:spPr>
          <a:xfrm>
            <a:off x="5760720" y="2862072"/>
            <a:ext cx="2606040" cy="68580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Hindi and other Indian languages</a:t>
            </a:r>
            <a:endParaRPr lang="en-US" sz="1300" dirty="0"/>
          </a:p>
        </p:txBody>
      </p:sp>
      <p:sp>
        <p:nvSpPr>
          <p:cNvPr id="24" name="Shape 19"/>
          <p:cNvSpPr/>
          <p:nvPr/>
        </p:nvSpPr>
        <p:spPr>
          <a:xfrm>
            <a:off x="5212080" y="3703320"/>
            <a:ext cx="365760" cy="365760"/>
          </a:xfrm>
          <a:prstGeom prst="ellipse">
            <a:avLst/>
          </a:prstGeom>
          <a:solidFill>
            <a:srgbClr val="F0A43A"/>
          </a:solidFill>
          <a:ln w="12700">
            <a:solidFill>
              <a:srgbClr val="F0A43A"/>
            </a:solidFill>
            <a:prstDash val="solid"/>
          </a:ln>
        </p:spPr>
      </p:sp>
      <p:sp>
        <p:nvSpPr>
          <p:cNvPr id="25" name="Text 20"/>
          <p:cNvSpPr txBox="1"/>
          <p:nvPr/>
        </p:nvSpPr>
        <p:spPr>
          <a:xfrm>
            <a:off x="5212080" y="3703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6" name="Text 21"/>
          <p:cNvSpPr txBox="1"/>
          <p:nvPr/>
        </p:nvSpPr>
        <p:spPr>
          <a:xfrm>
            <a:off x="5760720" y="3685032"/>
            <a:ext cx="2606040" cy="685800"/>
          </a:xfrm>
          <a:prstGeom prst="rect">
            <a:avLst/>
          </a:prstGeom>
          <a:noFill/>
          <a:ln/>
        </p:spPr>
        <p:txBody>
          <a:bodyPr wrap="square" lIns="0" tIns="0" rIns="0" bIns="0" rtlCol="0" anchor="t"/>
          <a:lstStyle/>
          <a:p>
            <a:pPr indent="0" marL="0">
              <a:buNone/>
            </a:pPr>
            <a:r>
              <a:rPr lang="en-US" sz="1300" dirty="0">
                <a:solidFill>
                  <a:srgbClr val="FFFFFF"/>
                </a:solidFill>
                <a:latin typeface="Arial" pitchFamily="34" charset="0"/>
                <a:ea typeface="Arial" pitchFamily="34" charset="-122"/>
                <a:cs typeface="Arial" pitchFamily="34" charset="-120"/>
              </a:rPr>
              <a:t>Reminders of the appointment date and what to carry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13D"/>
        </a:solidFill>
      </p:bgPr>
    </p:bg>
    <p:spTree>
      <p:nvGrpSpPr>
        <p:cNvPr id="1" name=""/>
        <p:cNvGrpSpPr/>
        <p:nvPr/>
      </p:nvGrpSpPr>
      <p:grpSpPr>
        <a:xfrm>
          <a:off x="0" y="0"/>
          <a:ext cx="0" cy="0"/>
          <a:chOff x="0" y="0"/>
          <a:chExt cx="0" cy="0"/>
        </a:xfrm>
      </p:grpSpPr>
      <p:pic>
        <p:nvPicPr>
          <p:cNvPr id="2" name="Image 0" descr="/private/tmp/claude-501/-Users-nitinraina-cachedinfo/a7d1d877-a336-4565-adcb-7cbe51d8340f/scratchpad/deck/brand/lockup-on-dark.png">    </p:cNvPr>
          <p:cNvPicPr>
            <a:picLocks noChangeAspect="1"/>
          </p:cNvPicPr>
          <p:nvPr/>
        </p:nvPicPr>
        <p:blipFill>
          <a:blip r:embed="rId1"/>
          <a:stretch>
            <a:fillRect/>
          </a:stretch>
        </p:blipFill>
        <p:spPr>
          <a:xfrm>
            <a:off x="6274045" y="704088"/>
            <a:ext cx="2321315" cy="329184"/>
          </a:xfrm>
          <a:prstGeom prst="rect">
            <a:avLst/>
          </a:prstGeom>
        </p:spPr>
      </p:pic>
      <p:pic>
        <p:nvPicPr>
          <p:cNvPr id="3" name="Image 1" descr="/private/tmp/claude-501/-Users-nitinraina-cachedinfo/a7d1d877-a336-4565-adcb-7cbe51d8340f/scratchpad/deck/brand/wordmark-on-dark.png">    </p:cNvPr>
          <p:cNvPicPr>
            <a:picLocks noChangeAspect="1"/>
          </p:cNvPicPr>
          <p:nvPr/>
        </p:nvPicPr>
        <p:blipFill>
          <a:blip r:embed="rId2"/>
          <a:stretch>
            <a:fillRect/>
          </a:stretch>
        </p:blipFill>
        <p:spPr>
          <a:xfrm>
            <a:off x="6417140" y="4526280"/>
            <a:ext cx="2178220" cy="182880"/>
          </a:xfrm>
          <a:prstGeom prst="rect">
            <a:avLst/>
          </a:prstGeom>
        </p:spPr>
      </p:pic>
      <p:sp>
        <p:nvSpPr>
          <p:cNvPr id="4" name="Text 0"/>
          <p:cNvSpPr txBox="1"/>
          <p:nvPr/>
        </p:nvSpPr>
        <p:spPr>
          <a:xfrm>
            <a:off x="548640" y="502920"/>
            <a:ext cx="5486400" cy="73152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Team Paperless</a:t>
            </a:r>
            <a:endParaRPr lang="en-US" sz="4000" dirty="0"/>
          </a:p>
        </p:txBody>
      </p:sp>
      <p:sp>
        <p:nvSpPr>
          <p:cNvPr id="5" name="Text 1"/>
          <p:cNvSpPr txBox="1"/>
          <p:nvPr/>
        </p:nvSpPr>
        <p:spPr>
          <a:xfrm>
            <a:off x="548640" y="1234440"/>
            <a:ext cx="8046720" cy="365760"/>
          </a:xfrm>
          <a:prstGeom prst="rect">
            <a:avLst/>
          </a:prstGeom>
          <a:noFill/>
          <a:ln/>
        </p:spPr>
        <p:txBody>
          <a:bodyPr wrap="square" lIns="0" tIns="0" rIns="0" bIns="0" rtlCol="0" anchor="t"/>
          <a:lstStyle/>
          <a:p>
            <a:pPr indent="0" marL="0">
              <a:buNone/>
            </a:pPr>
            <a:r>
              <a:rPr lang="en-US" sz="1600" dirty="0">
                <a:solidFill>
                  <a:srgbClr val="B9C8F2"/>
                </a:solidFill>
                <a:latin typeface="Arial" pitchFamily="34" charset="0"/>
                <a:ea typeface="Arial" pitchFamily="34" charset="-122"/>
                <a:cs typeface="Arial" pitchFamily="34" charset="-120"/>
              </a:rPr>
              <a:t>Try Kagaz on your phone right now.</a:t>
            </a:r>
            <a:endParaRPr lang="en-US" sz="1600" dirty="0"/>
          </a:p>
        </p:txBody>
      </p:sp>
      <p:sp>
        <p:nvSpPr>
          <p:cNvPr id="6" name="Shape 2"/>
          <p:cNvSpPr/>
          <p:nvPr/>
        </p:nvSpPr>
        <p:spPr>
          <a:xfrm>
            <a:off x="548640" y="1920240"/>
            <a:ext cx="2468880" cy="1143000"/>
          </a:xfrm>
          <a:prstGeom prst="roundRect">
            <a:avLst>
              <a:gd name="adj" fmla="val 12000"/>
            </a:avLst>
          </a:prstGeom>
          <a:solidFill>
            <a:srgbClr val="1D2D52"/>
          </a:solidFill>
          <a:ln w="12700">
            <a:solidFill>
              <a:srgbClr val="1D2D52"/>
            </a:solidFill>
            <a:prstDash val="solid"/>
          </a:ln>
        </p:spPr>
      </p:sp>
      <p:sp>
        <p:nvSpPr>
          <p:cNvPr id="7" name="Shape 3"/>
          <p:cNvSpPr/>
          <p:nvPr/>
        </p:nvSpPr>
        <p:spPr>
          <a:xfrm>
            <a:off x="777240" y="2194560"/>
            <a:ext cx="594360" cy="594360"/>
          </a:xfrm>
          <a:prstGeom prst="ellipse">
            <a:avLst/>
          </a:prstGeom>
          <a:solidFill>
            <a:srgbClr val="2F5BD3"/>
          </a:solidFill>
          <a:ln w="12700">
            <a:solidFill>
              <a:srgbClr val="2F5BD3"/>
            </a:solidFill>
            <a:prstDash val="solid"/>
          </a:ln>
        </p:spPr>
      </p:sp>
      <p:sp>
        <p:nvSpPr>
          <p:cNvPr id="8" name="Text 4"/>
          <p:cNvSpPr txBox="1"/>
          <p:nvPr/>
        </p:nvSpPr>
        <p:spPr>
          <a:xfrm>
            <a:off x="777240" y="219456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RS</a:t>
            </a:r>
            <a:endParaRPr lang="en-US" sz="1500" dirty="0"/>
          </a:p>
        </p:txBody>
      </p:sp>
      <p:sp>
        <p:nvSpPr>
          <p:cNvPr id="9" name="Text 5"/>
          <p:cNvSpPr txBox="1"/>
          <p:nvPr/>
        </p:nvSpPr>
        <p:spPr>
          <a:xfrm>
            <a:off x="1508760" y="2212848"/>
            <a:ext cx="1417320" cy="27432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Riya Sharma</a:t>
            </a:r>
            <a:endParaRPr lang="en-US" sz="1400" dirty="0"/>
          </a:p>
        </p:txBody>
      </p:sp>
      <p:sp>
        <p:nvSpPr>
          <p:cNvPr id="10" name="Text 6"/>
          <p:cNvSpPr txBox="1"/>
          <p:nvPr/>
        </p:nvSpPr>
        <p:spPr>
          <a:xfrm>
            <a:off x="1508760" y="2505456"/>
            <a:ext cx="1417320" cy="274320"/>
          </a:xfrm>
          <a:prstGeom prst="rect">
            <a:avLst/>
          </a:prstGeom>
          <a:noFill/>
          <a:ln/>
        </p:spPr>
        <p:txBody>
          <a:bodyPr wrap="square" lIns="0" tIns="0" rIns="0" bIns="0" rtlCol="0" anchor="t"/>
          <a:lstStyle/>
          <a:p>
            <a:pPr indent="0" marL="0">
              <a:buNone/>
            </a:pPr>
            <a:r>
              <a:rPr lang="en-US" sz="1100" dirty="0">
                <a:solidFill>
                  <a:srgbClr val="9AA8C7"/>
                </a:solidFill>
                <a:latin typeface="Arial" pitchFamily="34" charset="0"/>
                <a:ea typeface="Arial" pitchFamily="34" charset="-122"/>
                <a:cs typeface="Arial" pitchFamily="34" charset="-120"/>
              </a:rPr>
              <a:t>Build</a:t>
            </a:r>
            <a:endParaRPr lang="en-US" sz="1100" dirty="0"/>
          </a:p>
        </p:txBody>
      </p:sp>
      <p:sp>
        <p:nvSpPr>
          <p:cNvPr id="11" name="Shape 7"/>
          <p:cNvSpPr/>
          <p:nvPr/>
        </p:nvSpPr>
        <p:spPr>
          <a:xfrm>
            <a:off x="3246120" y="1920240"/>
            <a:ext cx="2468880" cy="1143000"/>
          </a:xfrm>
          <a:prstGeom prst="roundRect">
            <a:avLst>
              <a:gd name="adj" fmla="val 12000"/>
            </a:avLst>
          </a:prstGeom>
          <a:solidFill>
            <a:srgbClr val="1D2D52"/>
          </a:solidFill>
          <a:ln w="12700">
            <a:solidFill>
              <a:srgbClr val="1D2D52"/>
            </a:solidFill>
            <a:prstDash val="solid"/>
          </a:ln>
        </p:spPr>
      </p:sp>
      <p:sp>
        <p:nvSpPr>
          <p:cNvPr id="12" name="Shape 8"/>
          <p:cNvSpPr/>
          <p:nvPr/>
        </p:nvSpPr>
        <p:spPr>
          <a:xfrm>
            <a:off x="3474720" y="2194560"/>
            <a:ext cx="594360" cy="594360"/>
          </a:xfrm>
          <a:prstGeom prst="ellipse">
            <a:avLst/>
          </a:prstGeom>
          <a:solidFill>
            <a:srgbClr val="2F5BD3"/>
          </a:solidFill>
          <a:ln w="12700">
            <a:solidFill>
              <a:srgbClr val="2F5BD3"/>
            </a:solidFill>
            <a:prstDash val="solid"/>
          </a:ln>
        </p:spPr>
      </p:sp>
      <p:sp>
        <p:nvSpPr>
          <p:cNvPr id="13" name="Text 9"/>
          <p:cNvSpPr txBox="1"/>
          <p:nvPr/>
        </p:nvSpPr>
        <p:spPr>
          <a:xfrm>
            <a:off x="3474720" y="219456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AG</a:t>
            </a:r>
            <a:endParaRPr lang="en-US" sz="1500" dirty="0"/>
          </a:p>
        </p:txBody>
      </p:sp>
      <p:sp>
        <p:nvSpPr>
          <p:cNvPr id="14" name="Text 10"/>
          <p:cNvSpPr txBox="1"/>
          <p:nvPr/>
        </p:nvSpPr>
        <p:spPr>
          <a:xfrm>
            <a:off x="4206240" y="2212848"/>
            <a:ext cx="1417320" cy="27432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Aman Gupta</a:t>
            </a:r>
            <a:endParaRPr lang="en-US" sz="1400" dirty="0"/>
          </a:p>
        </p:txBody>
      </p:sp>
      <p:sp>
        <p:nvSpPr>
          <p:cNvPr id="15" name="Text 11"/>
          <p:cNvSpPr txBox="1"/>
          <p:nvPr/>
        </p:nvSpPr>
        <p:spPr>
          <a:xfrm>
            <a:off x="4206240" y="2505456"/>
            <a:ext cx="1417320" cy="274320"/>
          </a:xfrm>
          <a:prstGeom prst="rect">
            <a:avLst/>
          </a:prstGeom>
          <a:noFill/>
          <a:ln/>
        </p:spPr>
        <p:txBody>
          <a:bodyPr wrap="square" lIns="0" tIns="0" rIns="0" bIns="0" rtlCol="0" anchor="t"/>
          <a:lstStyle/>
          <a:p>
            <a:pPr indent="0" marL="0">
              <a:buNone/>
            </a:pPr>
            <a:r>
              <a:rPr lang="en-US" sz="1100" dirty="0">
                <a:solidFill>
                  <a:srgbClr val="9AA8C7"/>
                </a:solidFill>
                <a:latin typeface="Arial" pitchFamily="34" charset="0"/>
                <a:ea typeface="Arial" pitchFamily="34" charset="-122"/>
                <a:cs typeface="Arial" pitchFamily="34" charset="-120"/>
              </a:rPr>
              <a:t>Design and testing</a:t>
            </a:r>
            <a:endParaRPr lang="en-US" sz="1100" dirty="0"/>
          </a:p>
        </p:txBody>
      </p:sp>
      <p:sp>
        <p:nvSpPr>
          <p:cNvPr id="16" name="Shape 12"/>
          <p:cNvSpPr/>
          <p:nvPr/>
        </p:nvSpPr>
        <p:spPr>
          <a:xfrm>
            <a:off x="5943600" y="1920240"/>
            <a:ext cx="2468880" cy="1143000"/>
          </a:xfrm>
          <a:prstGeom prst="roundRect">
            <a:avLst>
              <a:gd name="adj" fmla="val 12000"/>
            </a:avLst>
          </a:prstGeom>
          <a:solidFill>
            <a:srgbClr val="1D2D52"/>
          </a:solidFill>
          <a:ln w="12700">
            <a:solidFill>
              <a:srgbClr val="1D2D52"/>
            </a:solidFill>
            <a:prstDash val="solid"/>
          </a:ln>
        </p:spPr>
      </p:sp>
      <p:sp>
        <p:nvSpPr>
          <p:cNvPr id="17" name="Shape 13"/>
          <p:cNvSpPr/>
          <p:nvPr/>
        </p:nvSpPr>
        <p:spPr>
          <a:xfrm>
            <a:off x="6172200" y="2194560"/>
            <a:ext cx="594360" cy="594360"/>
          </a:xfrm>
          <a:prstGeom prst="ellipse">
            <a:avLst/>
          </a:prstGeom>
          <a:solidFill>
            <a:srgbClr val="2F5BD3"/>
          </a:solidFill>
          <a:ln w="12700">
            <a:solidFill>
              <a:srgbClr val="2F5BD3"/>
            </a:solidFill>
            <a:prstDash val="solid"/>
          </a:ln>
        </p:spPr>
      </p:sp>
      <p:sp>
        <p:nvSpPr>
          <p:cNvPr id="18" name="Text 14"/>
          <p:cNvSpPr txBox="1"/>
          <p:nvPr/>
        </p:nvSpPr>
        <p:spPr>
          <a:xfrm>
            <a:off x="6172200" y="2194560"/>
            <a:ext cx="594360" cy="59436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SK</a:t>
            </a:r>
            <a:endParaRPr lang="en-US" sz="1500" dirty="0"/>
          </a:p>
        </p:txBody>
      </p:sp>
      <p:sp>
        <p:nvSpPr>
          <p:cNvPr id="19" name="Text 15"/>
          <p:cNvSpPr txBox="1"/>
          <p:nvPr/>
        </p:nvSpPr>
        <p:spPr>
          <a:xfrm>
            <a:off x="6903720" y="2212848"/>
            <a:ext cx="1417320" cy="27432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Sara Khan</a:t>
            </a:r>
            <a:endParaRPr lang="en-US" sz="1400" dirty="0"/>
          </a:p>
        </p:txBody>
      </p:sp>
      <p:sp>
        <p:nvSpPr>
          <p:cNvPr id="20" name="Text 16"/>
          <p:cNvSpPr txBox="1"/>
          <p:nvPr/>
        </p:nvSpPr>
        <p:spPr>
          <a:xfrm>
            <a:off x="6903720" y="2505456"/>
            <a:ext cx="1417320" cy="274320"/>
          </a:xfrm>
          <a:prstGeom prst="rect">
            <a:avLst/>
          </a:prstGeom>
          <a:noFill/>
          <a:ln/>
        </p:spPr>
        <p:txBody>
          <a:bodyPr wrap="square" lIns="0" tIns="0" rIns="0" bIns="0" rtlCol="0" anchor="t"/>
          <a:lstStyle/>
          <a:p>
            <a:pPr indent="0" marL="0">
              <a:buNone/>
            </a:pPr>
            <a:r>
              <a:rPr lang="en-US" sz="1100" dirty="0">
                <a:solidFill>
                  <a:srgbClr val="9AA8C7"/>
                </a:solidFill>
                <a:latin typeface="Arial" pitchFamily="34" charset="0"/>
                <a:ea typeface="Arial" pitchFamily="34" charset="-122"/>
                <a:cs typeface="Arial" pitchFamily="34" charset="-120"/>
              </a:rPr>
              <a:t>Pitch and video</a:t>
            </a:r>
            <a:endParaRPr lang="en-US" sz="1100" dirty="0"/>
          </a:p>
        </p:txBody>
      </p:sp>
      <p:pic>
        <p:nvPicPr>
          <p:cNvPr id="21" name="Image 2" descr="preencoded.png">    </p:cNvPr>
          <p:cNvPicPr>
            <a:picLocks noChangeAspect="1"/>
          </p:cNvPicPr>
          <p:nvPr/>
        </p:nvPicPr>
        <p:blipFill>
          <a:blip r:embed="rId3"/>
          <a:stretch>
            <a:fillRect/>
          </a:stretch>
        </p:blipFill>
        <p:spPr>
          <a:xfrm>
            <a:off x="548640" y="3557016"/>
            <a:ext cx="256032" cy="256032"/>
          </a:xfrm>
          <a:prstGeom prst="rect">
            <a:avLst/>
          </a:prstGeom>
        </p:spPr>
      </p:pic>
      <p:sp>
        <p:nvSpPr>
          <p:cNvPr id="22" name="Text 17"/>
          <p:cNvSpPr txBox="1"/>
          <p:nvPr/>
        </p:nvSpPr>
        <p:spPr>
          <a:xfrm>
            <a:off x="960120" y="3520440"/>
            <a:ext cx="1097280" cy="329184"/>
          </a:xfrm>
          <a:prstGeom prst="rect">
            <a:avLst/>
          </a:prstGeom>
          <a:noFill/>
          <a:ln/>
        </p:spPr>
        <p:txBody>
          <a:bodyPr wrap="square" lIns="0" tIns="0" rIns="0" bIns="0" rtlCol="0" anchor="ctr"/>
          <a:lstStyle/>
          <a:p>
            <a:pPr indent="0" marL="0">
              <a:buNone/>
            </a:pPr>
            <a:r>
              <a:rPr lang="en-US" sz="1300" b="1" dirty="0">
                <a:solidFill>
                  <a:srgbClr val="B9C8F2"/>
                </a:solidFill>
                <a:latin typeface="Arial" pitchFamily="34" charset="0"/>
                <a:ea typeface="Arial" pitchFamily="34" charset="-122"/>
                <a:cs typeface="Arial" pitchFamily="34" charset="-120"/>
              </a:rPr>
              <a:t>Live app</a:t>
            </a:r>
            <a:endParaRPr lang="en-US" sz="1300" dirty="0"/>
          </a:p>
        </p:txBody>
      </p:sp>
      <p:sp>
        <p:nvSpPr>
          <p:cNvPr id="23" name="Text 18"/>
          <p:cNvSpPr txBox="1"/>
          <p:nvPr/>
        </p:nvSpPr>
        <p:spPr>
          <a:xfrm>
            <a:off x="2057400" y="3520440"/>
            <a:ext cx="5943600" cy="329184"/>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kagaz.lovable.app</a:t>
            </a:r>
            <a:endParaRPr lang="en-US" sz="1500" dirty="0"/>
          </a:p>
        </p:txBody>
      </p:sp>
      <p:pic>
        <p:nvPicPr>
          <p:cNvPr id="24" name="Image 3" descr="preencoded.png">    </p:cNvPr>
          <p:cNvPicPr>
            <a:picLocks noChangeAspect="1"/>
          </p:cNvPicPr>
          <p:nvPr/>
        </p:nvPicPr>
        <p:blipFill>
          <a:blip r:embed="rId4"/>
          <a:stretch>
            <a:fillRect/>
          </a:stretch>
        </p:blipFill>
        <p:spPr>
          <a:xfrm>
            <a:off x="548640" y="4059936"/>
            <a:ext cx="256032" cy="256032"/>
          </a:xfrm>
          <a:prstGeom prst="rect">
            <a:avLst/>
          </a:prstGeom>
        </p:spPr>
      </p:pic>
      <p:sp>
        <p:nvSpPr>
          <p:cNvPr id="25" name="Text 19"/>
          <p:cNvSpPr txBox="1"/>
          <p:nvPr/>
        </p:nvSpPr>
        <p:spPr>
          <a:xfrm>
            <a:off x="960120" y="4023360"/>
            <a:ext cx="1097280" cy="329184"/>
          </a:xfrm>
          <a:prstGeom prst="rect">
            <a:avLst/>
          </a:prstGeom>
          <a:noFill/>
          <a:ln/>
        </p:spPr>
        <p:txBody>
          <a:bodyPr wrap="square" lIns="0" tIns="0" rIns="0" bIns="0" rtlCol="0" anchor="ctr"/>
          <a:lstStyle/>
          <a:p>
            <a:pPr indent="0" marL="0">
              <a:buNone/>
            </a:pPr>
            <a:r>
              <a:rPr lang="en-US" sz="1300" b="1" dirty="0">
                <a:solidFill>
                  <a:srgbClr val="B9C8F2"/>
                </a:solidFill>
                <a:latin typeface="Arial" pitchFamily="34" charset="0"/>
                <a:ea typeface="Arial" pitchFamily="34" charset="-122"/>
                <a:cs typeface="Arial" pitchFamily="34" charset="-120"/>
              </a:rPr>
              <a:t>Code</a:t>
            </a:r>
            <a:endParaRPr lang="en-US" sz="1300" dirty="0"/>
          </a:p>
        </p:txBody>
      </p:sp>
      <p:sp>
        <p:nvSpPr>
          <p:cNvPr id="26" name="Text 20"/>
          <p:cNvSpPr txBox="1"/>
          <p:nvPr/>
        </p:nvSpPr>
        <p:spPr>
          <a:xfrm>
            <a:off x="2057400" y="4023360"/>
            <a:ext cx="5943600" cy="329184"/>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github.com/team-paperless/kagaz</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Kagaz: sample pitch deck (HackCache 26)</dc:title>
  <dc:subject>PptxGenJS Presentation</dc:subject>
  <dc:creator>PptxGenJS</dc:creator>
  <cp:lastModifiedBy>PptxGenJS</cp:lastModifiedBy>
  <cp:revision>1</cp:revision>
  <dcterms:created xsi:type="dcterms:W3CDTF">2026-09-26T10:49:33Z</dcterms:created>
  <dcterms:modified xsi:type="dcterms:W3CDTF">2026-09-26T10:49:33Z</dcterms:modified>
</cp:coreProperties>
</file>